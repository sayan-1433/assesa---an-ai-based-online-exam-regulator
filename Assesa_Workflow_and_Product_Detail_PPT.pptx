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21.xml"/><Relationship Id="rId16" Type="http://schemas.openxmlformats.org/officeDocument/2006/relationships/slide" Target="slides/slide22.xml"/><Relationship Id="rId17" Type="http://schemas.openxmlformats.org/officeDocument/2006/relationships/slide" Target="slides/slide23.xml"/><Relationship Id="rId18" Type="http://schemas.openxmlformats.org/officeDocument/2006/relationships/slide" Target="slides/slide24.xml"/><Relationship Id="rId19" Type="http://schemas.openxmlformats.org/officeDocument/2006/relationships/slide" Target="slides/slide25.xml"/><Relationship Id="rId20" Type="http://schemas.openxmlformats.org/officeDocument/2006/relationships/slide" Target="slides/slide26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29.xml"/><Relationship Id="rId24" Type="http://schemas.openxmlformats.org/officeDocument/2006/relationships/slide" Target="slides/slide30.xml"/><Relationship Id="rId25" Type="http://schemas.openxmlformats.org/officeDocument/2006/relationships/slide" Target="slides/slide31.xml"/><Relationship Id="rId26" Type="http://schemas.openxmlformats.org/officeDocument/2006/relationships/slide" Target="slides/slide32.xml"/><Relationship Id="rId27" Type="http://schemas.openxmlformats.org/officeDocument/2006/relationships/slide" Target="slides/slide33.xml"/><Relationship Id="rId28" Type="http://schemas.openxmlformats.org/officeDocument/2006/relationships/slide" Target="slides/slide34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65.jpg"/><Relationship Id="rId7" Type="http://schemas.openxmlformats.org/officeDocument/2006/relationships/image" Target="../media/image89.jpg"/><Relationship Id="rId8" Type="http://schemas.openxmlformats.org/officeDocument/2006/relationships/image" Target="../media/image9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9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66.jpg"/><Relationship Id="rId7" Type="http://schemas.openxmlformats.org/officeDocument/2006/relationships/image" Target="../media/image9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41.png"/><Relationship Id="rId5" Type="http://schemas.openxmlformats.org/officeDocument/2006/relationships/image" Target="../media/image46.png"/><Relationship Id="rId6" Type="http://schemas.openxmlformats.org/officeDocument/2006/relationships/image" Target="../media/image67.jpg"/><Relationship Id="rId7" Type="http://schemas.openxmlformats.org/officeDocument/2006/relationships/image" Target="../media/image8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6.png"/><Relationship Id="rId4" Type="http://schemas.openxmlformats.org/officeDocument/2006/relationships/image" Target="../media/image41.png"/><Relationship Id="rId5" Type="http://schemas.openxmlformats.org/officeDocument/2006/relationships/image" Target="../media/image47.png"/><Relationship Id="rId6" Type="http://schemas.openxmlformats.org/officeDocument/2006/relationships/image" Target="../media/image68.jpg"/><Relationship Id="rId7" Type="http://schemas.openxmlformats.org/officeDocument/2006/relationships/image" Target="../media/image86.jpg"/><Relationship Id="rId8" Type="http://schemas.openxmlformats.org/officeDocument/2006/relationships/image" Target="../media/image9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41.png"/><Relationship Id="rId5" Type="http://schemas.openxmlformats.org/officeDocument/2006/relationships/image" Target="../media/image48.png"/><Relationship Id="rId6" Type="http://schemas.openxmlformats.org/officeDocument/2006/relationships/image" Target="../media/image69.jpg"/><Relationship Id="rId7" Type="http://schemas.openxmlformats.org/officeDocument/2006/relationships/image" Target="../media/image91.jpg"/><Relationship Id="rId8" Type="http://schemas.openxmlformats.org/officeDocument/2006/relationships/image" Target="../media/image93.jpg"/><Relationship Id="rId9" Type="http://schemas.openxmlformats.org/officeDocument/2006/relationships/image" Target="../media/image98.jpg"/><Relationship Id="rId10" Type="http://schemas.openxmlformats.org/officeDocument/2006/relationships/image" Target="../media/image108.jpg"/><Relationship Id="rId11" Type="http://schemas.openxmlformats.org/officeDocument/2006/relationships/image" Target="../media/image11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7.png"/><Relationship Id="rId4" Type="http://schemas.openxmlformats.org/officeDocument/2006/relationships/image" Target="../media/image41.png"/><Relationship Id="rId5" Type="http://schemas.openxmlformats.org/officeDocument/2006/relationships/image" Target="../media/image49.png"/><Relationship Id="rId6" Type="http://schemas.openxmlformats.org/officeDocument/2006/relationships/image" Target="../media/image70.jpg"/><Relationship Id="rId7" Type="http://schemas.openxmlformats.org/officeDocument/2006/relationships/image" Target="../media/image89.jpg"/><Relationship Id="rId8" Type="http://schemas.openxmlformats.org/officeDocument/2006/relationships/image" Target="../media/image94.jpg"/><Relationship Id="rId9" Type="http://schemas.openxmlformats.org/officeDocument/2006/relationships/image" Target="../media/image99.jpg"/><Relationship Id="rId10" Type="http://schemas.openxmlformats.org/officeDocument/2006/relationships/image" Target="../media/image109.jpg"/><Relationship Id="rId11" Type="http://schemas.openxmlformats.org/officeDocument/2006/relationships/image" Target="../media/image1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8.png"/><Relationship Id="rId4" Type="http://schemas.openxmlformats.org/officeDocument/2006/relationships/image" Target="../media/image41.png"/><Relationship Id="rId5" Type="http://schemas.openxmlformats.org/officeDocument/2006/relationships/image" Target="../media/image50.png"/><Relationship Id="rId6" Type="http://schemas.openxmlformats.org/officeDocument/2006/relationships/image" Target="../media/image71.jpg"/><Relationship Id="rId7" Type="http://schemas.openxmlformats.org/officeDocument/2006/relationships/image" Target="../media/image87.jpg"/><Relationship Id="rId8" Type="http://schemas.openxmlformats.org/officeDocument/2006/relationships/image" Target="../media/image9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8.png"/><Relationship Id="rId4" Type="http://schemas.openxmlformats.org/officeDocument/2006/relationships/image" Target="../media/image41.png"/><Relationship Id="rId5" Type="http://schemas.openxmlformats.org/officeDocument/2006/relationships/image" Target="../media/image51.png"/><Relationship Id="rId6" Type="http://schemas.openxmlformats.org/officeDocument/2006/relationships/image" Target="../media/image72.jpg"/><Relationship Id="rId7" Type="http://schemas.openxmlformats.org/officeDocument/2006/relationships/image" Target="../media/image9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9.png"/><Relationship Id="rId4" Type="http://schemas.openxmlformats.org/officeDocument/2006/relationships/image" Target="../media/image41.png"/><Relationship Id="rId5" Type="http://schemas.openxmlformats.org/officeDocument/2006/relationships/image" Target="../media/image52.png"/><Relationship Id="rId6" Type="http://schemas.openxmlformats.org/officeDocument/2006/relationships/image" Target="../media/image73.jpg"/><Relationship Id="rId7" Type="http://schemas.openxmlformats.org/officeDocument/2006/relationships/image" Target="../media/image89.jpg"/><Relationship Id="rId8" Type="http://schemas.openxmlformats.org/officeDocument/2006/relationships/image" Target="../media/image95.jpg"/><Relationship Id="rId9" Type="http://schemas.openxmlformats.org/officeDocument/2006/relationships/image" Target="../media/image100.jpg"/><Relationship Id="rId10" Type="http://schemas.openxmlformats.org/officeDocument/2006/relationships/image" Target="../media/image110.jpg"/><Relationship Id="rId11" Type="http://schemas.openxmlformats.org/officeDocument/2006/relationships/image" Target="../media/image12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5" Type="http://schemas.openxmlformats.org/officeDocument/2006/relationships/image" Target="../media/image53.png"/><Relationship Id="rId6" Type="http://schemas.openxmlformats.org/officeDocument/2006/relationships/image" Target="../media/image74.jpg"/><Relationship Id="rId7" Type="http://schemas.openxmlformats.org/officeDocument/2006/relationships/image" Target="../media/image90.jpg"/><Relationship Id="rId8" Type="http://schemas.openxmlformats.org/officeDocument/2006/relationships/image" Target="../media/image96.jpg"/><Relationship Id="rId9" Type="http://schemas.openxmlformats.org/officeDocument/2006/relationships/image" Target="../media/image101.jpg"/><Relationship Id="rId10" Type="http://schemas.openxmlformats.org/officeDocument/2006/relationships/image" Target="../media/image111.jpg"/><Relationship Id="rId11" Type="http://schemas.openxmlformats.org/officeDocument/2006/relationships/image" Target="../media/image12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1.png"/><Relationship Id="rId4" Type="http://schemas.openxmlformats.org/officeDocument/2006/relationships/image" Target="../media/image41.png"/><Relationship Id="rId5" Type="http://schemas.openxmlformats.org/officeDocument/2006/relationships/image" Target="../media/image54.png"/><Relationship Id="rId6" Type="http://schemas.openxmlformats.org/officeDocument/2006/relationships/image" Target="../media/image75.jpg"/><Relationship Id="rId7" Type="http://schemas.openxmlformats.org/officeDocument/2006/relationships/image" Target="../media/image9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2.png"/><Relationship Id="rId4" Type="http://schemas.openxmlformats.org/officeDocument/2006/relationships/image" Target="../media/image41.png"/><Relationship Id="rId5" Type="http://schemas.openxmlformats.org/officeDocument/2006/relationships/image" Target="../media/image55.png"/><Relationship Id="rId6" Type="http://schemas.openxmlformats.org/officeDocument/2006/relationships/image" Target="../media/image76.jpg"/><Relationship Id="rId7" Type="http://schemas.openxmlformats.org/officeDocument/2006/relationships/image" Target="../media/image89.jpg"/><Relationship Id="rId8" Type="http://schemas.openxmlformats.org/officeDocument/2006/relationships/image" Target="../media/image97.jpg"/><Relationship Id="rId9" Type="http://schemas.openxmlformats.org/officeDocument/2006/relationships/image" Target="../media/image102.jpg"/><Relationship Id="rId10" Type="http://schemas.openxmlformats.org/officeDocument/2006/relationships/image" Target="../media/image112.jpg"/><Relationship Id="rId11" Type="http://schemas.openxmlformats.org/officeDocument/2006/relationships/image" Target="../media/image1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56.png"/><Relationship Id="rId6" Type="http://schemas.openxmlformats.org/officeDocument/2006/relationships/image" Target="../media/image77.jpg"/><Relationship Id="rId7" Type="http://schemas.openxmlformats.org/officeDocument/2006/relationships/image" Target="../media/image88.jpg"/><Relationship Id="rId8" Type="http://schemas.openxmlformats.org/officeDocument/2006/relationships/image" Target="../media/image9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57.png"/><Relationship Id="rId6" Type="http://schemas.openxmlformats.org/officeDocument/2006/relationships/image" Target="../media/image78.jpg"/><Relationship Id="rId7" Type="http://schemas.openxmlformats.org/officeDocument/2006/relationships/image" Target="../media/image9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58.png"/><Relationship Id="rId6" Type="http://schemas.openxmlformats.org/officeDocument/2006/relationships/image" Target="../media/image79.jpg"/><Relationship Id="rId7" Type="http://schemas.openxmlformats.org/officeDocument/2006/relationships/image" Target="../media/image89.jpg"/><Relationship Id="rId8" Type="http://schemas.openxmlformats.org/officeDocument/2006/relationships/image" Target="../media/image103.jpg"/><Relationship Id="rId9" Type="http://schemas.openxmlformats.org/officeDocument/2006/relationships/image" Target="../media/image113.jpg"/><Relationship Id="rId10" Type="http://schemas.openxmlformats.org/officeDocument/2006/relationships/image" Target="../media/image12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59.png"/><Relationship Id="rId6" Type="http://schemas.openxmlformats.org/officeDocument/2006/relationships/image" Target="../media/image80.jpg"/><Relationship Id="rId7" Type="http://schemas.openxmlformats.org/officeDocument/2006/relationships/image" Target="../media/image90.jpg"/><Relationship Id="rId8" Type="http://schemas.openxmlformats.org/officeDocument/2006/relationships/image" Target="../media/image104.jpg"/><Relationship Id="rId9" Type="http://schemas.openxmlformats.org/officeDocument/2006/relationships/image" Target="../media/image114.jpg"/><Relationship Id="rId10" Type="http://schemas.openxmlformats.org/officeDocument/2006/relationships/image" Target="../media/image12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60.png"/><Relationship Id="rId6" Type="http://schemas.openxmlformats.org/officeDocument/2006/relationships/image" Target="../media/image81.jpg"/><Relationship Id="rId7" Type="http://schemas.openxmlformats.org/officeDocument/2006/relationships/image" Target="../media/image91.jpg"/><Relationship Id="rId8" Type="http://schemas.openxmlformats.org/officeDocument/2006/relationships/image" Target="../media/image105.jpg"/><Relationship Id="rId9" Type="http://schemas.openxmlformats.org/officeDocument/2006/relationships/image" Target="../media/image115.jpg"/><Relationship Id="rId10" Type="http://schemas.openxmlformats.org/officeDocument/2006/relationships/image" Target="../media/image12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61.png"/><Relationship Id="rId6" Type="http://schemas.openxmlformats.org/officeDocument/2006/relationships/image" Target="../media/image82.jpg"/><Relationship Id="rId7" Type="http://schemas.openxmlformats.org/officeDocument/2006/relationships/image" Target="../media/image89.jpg"/><Relationship Id="rId8" Type="http://schemas.openxmlformats.org/officeDocument/2006/relationships/image" Target="../media/image106.jpg"/><Relationship Id="rId9" Type="http://schemas.openxmlformats.org/officeDocument/2006/relationships/image" Target="../media/image116.jpg"/><Relationship Id="rId10" Type="http://schemas.openxmlformats.org/officeDocument/2006/relationships/image" Target="../media/image12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9.png"/><Relationship Id="rId4" Type="http://schemas.openxmlformats.org/officeDocument/2006/relationships/image" Target="../media/image41.png"/><Relationship Id="rId5" Type="http://schemas.openxmlformats.org/officeDocument/2006/relationships/image" Target="../media/image62.png"/><Relationship Id="rId6" Type="http://schemas.openxmlformats.org/officeDocument/2006/relationships/image" Target="../media/image83.jpg"/><Relationship Id="rId7" Type="http://schemas.openxmlformats.org/officeDocument/2006/relationships/image" Target="../media/image90.jpg"/><Relationship Id="rId8" Type="http://schemas.openxmlformats.org/officeDocument/2006/relationships/image" Target="../media/image107.jpg"/><Relationship Id="rId9" Type="http://schemas.openxmlformats.org/officeDocument/2006/relationships/image" Target="../media/image117.jpg"/><Relationship Id="rId10" Type="http://schemas.openxmlformats.org/officeDocument/2006/relationships/image" Target="../media/image12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63.png"/><Relationship Id="rId6" Type="http://schemas.openxmlformats.org/officeDocument/2006/relationships/image" Target="../media/image84.jpg"/><Relationship Id="rId7" Type="http://schemas.openxmlformats.org/officeDocument/2006/relationships/image" Target="../media/image9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41.png"/><Relationship Id="rId5" Type="http://schemas.openxmlformats.org/officeDocument/2006/relationships/image" Target="../media/image64.png"/><Relationship Id="rId6" Type="http://schemas.openxmlformats.org/officeDocument/2006/relationships/image" Target="../media/image85.jpg"/><Relationship Id="rId7" Type="http://schemas.openxmlformats.org/officeDocument/2006/relationships/image" Target="../media/image8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ro_cartoon_robot_backgrou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2700">
            <a:solidFill>
              <a:srgbClr val="28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02568" y="246888"/>
            <a:ext cx="320040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defRPr sz="1000" b="1">
                <a:solidFill>
                  <a:srgbClr val="4DDB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19088"/>
            <a:ext cx="3108960" cy="16459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750" b="1">
                <a:solidFill>
                  <a:srgbClr val="B0C6E1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58368"/>
            <a:ext cx="420624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1400" b="1">
                <a:solidFill>
                  <a:srgbClr val="43DAFF"/>
                </a:solidFill>
                <a:latin typeface="Aptos"/>
              </a:defRPr>
            </a:pPr>
            <a:r>
              <a:t>MEET ASSESA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42415"/>
            <a:ext cx="5212080" cy="74980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4300" b="1">
                <a:solidFill>
                  <a:srgbClr val="4CDCFF"/>
                </a:solidFill>
                <a:latin typeface="Aptos"/>
              </a:defRPr>
            </a:pPr>
            <a:r>
              <a:t>Assesa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4800600" cy="111556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2400" b="1">
                <a:solidFill>
                  <a:srgbClr val="F2F8FF"/>
                </a:solidFill>
                <a:latin typeface="Aptos"/>
              </a:defRPr>
            </a:pPr>
            <a:r>
              <a:t>What if an international-level exam could reach the world?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4709160" cy="8961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1600" b="0">
                <a:solidFill>
                  <a:srgbClr val="BBCFE9"/>
                </a:solidFill>
                <a:latin typeface="Aptos"/>
              </a:defRPr>
            </a:pPr>
            <a:r>
              <a:t>An AI-assisted concept for making large online assessments more trustworthy, reviewable, and accessible.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370832"/>
            <a:ext cx="466344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1500" b="0">
                <a:solidFill>
                  <a:srgbClr val="E0EFFF"/>
                </a:solidFill>
                <a:latin typeface="Aptos"/>
              </a:defRPr>
            </a:pPr>
            <a:r>
              <a:t>Designed to support human reviewers—not replace human judgment.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193792"/>
            <a:ext cx="4480560" cy="493776"/>
          </a:xfrm>
          <a:prstGeom prst="roundRect">
            <a:avLst/>
          </a:prstGeom>
          <a:solidFill>
            <a:srgbClr val="0B254C"/>
          </a:solidFill>
          <a:ln w="1270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8"/>
            <a:ext cx="4114800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1050" b="1">
                <a:solidFill>
                  <a:srgbClr val="43DAFF"/>
                </a:solidFill>
                <a:latin typeface="Aptos"/>
              </a:defRPr>
            </a:pPr>
            <a:r>
              <a:t>STUDENT-LED CONCEPT   •   EARLY-STAGE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694944"/>
            <a:ext cx="2578608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defRPr sz="1100" b="1">
                <a:solidFill>
                  <a:srgbClr val="0C2649"/>
                </a:solidFill>
                <a:latin typeface="Aptos"/>
              </a:defRPr>
            </a:pPr>
            <a:r>
              <a:t>Helping make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896112"/>
            <a:ext cx="2578608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defRPr sz="1100" b="1">
                <a:solidFill>
                  <a:srgbClr val="0C2649"/>
                </a:solidFill>
                <a:latin typeface="Aptos"/>
              </a:defRPr>
            </a:pPr>
            <a:r>
              <a:t>assessments 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1097280"/>
            <a:ext cx="2578608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defRPr sz="1100" b="1">
                <a:solidFill>
                  <a:srgbClr val="0C2649"/>
                </a:solidFill>
                <a:latin typeface="Aptos"/>
              </a:defRPr>
            </a:pPr>
            <a:r>
              <a:t>trustworthy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879592"/>
            <a:ext cx="5120640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defRPr sz="1150" b="0">
                <a:solidFill>
                  <a:srgbClr val="E2EFFF"/>
                </a:solidFill>
                <a:latin typeface="Aptos"/>
              </a:defRPr>
            </a:pPr>
            <a:r>
              <a:t>AI-supported assessment integrity  •  Human oversight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Imagine the next International Olympiad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One exam. Thousands of candidates. Dozens of countries.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67728" y="1627632"/>
            <a:ext cx="4681728" cy="4526280"/>
          </a:xfrm>
          <a:prstGeom prst="roundRect">
            <a:avLst/>
          </a:prstGeom>
          <a:solidFill>
            <a:srgbClr val="0D2244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talented student in a small town could sit the same high-level online Olympiad as a student in a major city.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Candidates might join from homes, schools, libraries, or supervised local centres—without all travelling to one venue.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If participation grows across countries and time zones, how do organisers maintain confidence that the process is fair?</a:t>
            </a:r>
          </a:p>
        </p:txBody>
      </p:sp>
      <p:pic>
        <p:nvPicPr>
          <p:cNvPr id="25" name="Picture 24" descr="global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2148840"/>
            <a:ext cx="4187952" cy="26974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644383" y="4956048"/>
            <a:ext cx="3383280" cy="384048"/>
          </a:xfrm>
          <a:prstGeom prst="roundRect">
            <a:avLst/>
          </a:prstGeom>
          <a:solidFill>
            <a:srgbClr val="081C3C"/>
          </a:solidFill>
          <a:ln>
            <a:solidFill>
              <a:srgbClr val="388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DDBFF"/>
                </a:solidFill>
                <a:latin typeface="Aptos"/>
              </a:defRPr>
            </a:pPr>
            <a:r>
              <a:t>SCHEMATIC GLOBAL PARTICIPATION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opportunity is enormous—but so is 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Online delivery can widen access. Trust has to scale with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More students could participate without the cost and logistics of bringing everyone to a physical venue.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Organisers could reach remote regions and run multiple sessions across time zones.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But a webcam shows only a small part of the room, and reviewing every recording manually does not scale easily.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Assesa imagines helping reviewers find the moments that deserve attention—not automatically declaring someone guilty.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problem: a webcam is only a small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An online exam is happening in a real room, not just on a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candidate may look away to think, adjust a device, or react to a noise outside the room.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phone or another person might appear—but a single frame cannot explain the full context.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Lighting, camera angles, shared rooms, and internet quality vary widely.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same visible signal can mean different things in different circumstances.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central idea behind Assesa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Turn scattered signals into reviewable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Assesa is a proposed platform that analyses selected video, audio, and—where supported and consented to—screen signals.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It could mark noteworthy events with timestamps and context, then help a human reviewer inspect them.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goal is clearer review and better-designed assessments, not an AI system that claims to read intent.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detected event is a clue, not proof of cheating.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main structure of Assesa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 modular platform, not one giant AI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1. Input layer: webcam video, microphone audio, and optional consent-based screen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2. Specialist analysis modules: vision, audio, screen activity, and video-quality checks.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3. Event layer: combines observations into a timestamped timeline with confidence and context.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4. Review layer: a human checks the evidence and adds notes.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434840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361688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5. Reporting layer: session summaries and privacy-protected aggregate trends.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95744" y="5074920"/>
            <a:ext cx="804672" cy="475488"/>
          </a:xfrm>
          <a:prstGeom prst="roundRect">
            <a:avLst/>
          </a:prstGeom>
          <a:solidFill>
            <a:srgbClr val="091E3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95744" y="5074920"/>
            <a:ext cx="804672" cy="475488"/>
          </a:xfrm>
          <a:prstGeom prst="roundRect">
            <a:avLst/>
          </a:prstGeom>
          <a:solidFill>
            <a:srgbClr val="091E3F"/>
          </a:solidFill>
          <a:ln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FF7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1" name="Chevron 30"/>
          <p:cNvSpPr/>
          <p:nvPr/>
        </p:nvSpPr>
        <p:spPr>
          <a:xfrm>
            <a:off x="7900416" y="5221224"/>
            <a:ext cx="91440" cy="182880"/>
          </a:xfrm>
          <a:prstGeom prst="chevron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91856" y="5074920"/>
            <a:ext cx="804672" cy="475488"/>
          </a:xfrm>
          <a:prstGeom prst="roundRect">
            <a:avLst/>
          </a:prstGeom>
          <a:solidFill>
            <a:srgbClr val="091E3F"/>
          </a:solidFill>
          <a:ln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FF7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33" name="Chevron 32"/>
          <p:cNvSpPr/>
          <p:nvPr/>
        </p:nvSpPr>
        <p:spPr>
          <a:xfrm>
            <a:off x="8796528" y="5221224"/>
            <a:ext cx="91440" cy="182880"/>
          </a:xfrm>
          <a:prstGeom prst="chevron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87967" y="5074920"/>
            <a:ext cx="804672" cy="475488"/>
          </a:xfrm>
          <a:prstGeom prst="roundRect">
            <a:avLst/>
          </a:prstGeom>
          <a:solidFill>
            <a:srgbClr val="091E3F"/>
          </a:solidFill>
          <a:ln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FF7FF"/>
                </a:solidFill>
                <a:latin typeface="Aptos"/>
              </a:defRPr>
            </a:pPr>
            <a:r>
              <a:t>EVENTS</a:t>
            </a:r>
          </a:p>
        </p:txBody>
      </p:sp>
      <p:sp>
        <p:nvSpPr>
          <p:cNvPr id="35" name="Chevron 34"/>
          <p:cNvSpPr/>
          <p:nvPr/>
        </p:nvSpPr>
        <p:spPr>
          <a:xfrm>
            <a:off x="9692640" y="5221224"/>
            <a:ext cx="91440" cy="182880"/>
          </a:xfrm>
          <a:prstGeom prst="chevron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0" y="5074920"/>
            <a:ext cx="804672" cy="475488"/>
          </a:xfrm>
          <a:prstGeom prst="roundRect">
            <a:avLst/>
          </a:prstGeom>
          <a:solidFill>
            <a:srgbClr val="091E3F"/>
          </a:solidFill>
          <a:ln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FF7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7" name="Chevron 36"/>
          <p:cNvSpPr/>
          <p:nvPr/>
        </p:nvSpPr>
        <p:spPr>
          <a:xfrm>
            <a:off x="10588752" y="5221224"/>
            <a:ext cx="91440" cy="182880"/>
          </a:xfrm>
          <a:prstGeom prst="chevron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680192" y="5074920"/>
            <a:ext cx="804672" cy="475488"/>
          </a:xfrm>
          <a:prstGeom prst="roundRect">
            <a:avLst/>
          </a:prstGeom>
          <a:solidFill>
            <a:srgbClr val="091E3F"/>
          </a:solidFill>
          <a:ln>
            <a:solidFill>
              <a:srgbClr val="FF6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EFF7FF"/>
                </a:solidFill>
                <a:latin typeface="Aptos"/>
              </a:defRPr>
            </a:pPr>
            <a:r>
              <a:t>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Meet the specialist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Each agent has a narrow job and known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Vision agent: checks whether the candidate is visible, notices additional people, and detects selected visible devices.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Audio agent: can transcribe speech and flag possible additional voices or unusual audio events.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Screen agent: only if supported and consented to, checks defined browser or application activity.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Analysis agent: organises signals into events; it does not infer guilt from a single observation.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581143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507991"/>
            <a:ext cx="5367527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Report agent: creates a readable summary for a human reviewer.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5276088"/>
            <a:ext cx="874166" cy="219456"/>
          </a:xfrm>
          <a:prstGeom prst="rect">
            <a:avLst/>
          </a:prstGeom>
          <a:noFill/>
        </p:spPr>
        <p:txBody>
          <a:bodyPr wrap="none" lIns="9144" rIns="9144" tIns="0" bIns="0" anchor="ctr">
            <a:spAutoFit/>
          </a:bodyPr>
          <a:lstStyle/>
          <a:p>
            <a:pPr algn="ctr">
              <a:defRPr sz="850" b="1">
                <a:solidFill>
                  <a:srgbClr val="4DDBFF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4774" y="5276088"/>
            <a:ext cx="874166" cy="219456"/>
          </a:xfrm>
          <a:prstGeom prst="rect">
            <a:avLst/>
          </a:prstGeom>
          <a:noFill/>
        </p:spPr>
        <p:txBody>
          <a:bodyPr wrap="none" lIns="9144" rIns="9144" tIns="0" bIns="0" anchor="ctr">
            <a:spAutoFit/>
          </a:bodyPr>
          <a:lstStyle/>
          <a:p>
            <a:pPr algn="ctr">
              <a:defRPr sz="850" b="1">
                <a:solidFill>
                  <a:srgbClr val="A17EFF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8940" y="5276088"/>
            <a:ext cx="874166" cy="219456"/>
          </a:xfrm>
          <a:prstGeom prst="rect">
            <a:avLst/>
          </a:prstGeom>
          <a:noFill/>
        </p:spPr>
        <p:txBody>
          <a:bodyPr wrap="none" lIns="9144" rIns="9144" tIns="0" bIns="0" anchor="ctr">
            <a:spAutoFit/>
          </a:bodyPr>
          <a:lstStyle/>
          <a:p>
            <a:pPr algn="ctr">
              <a:defRPr sz="850" b="1">
                <a:solidFill>
                  <a:srgbClr val="48E1B3"/>
                </a:solidFill>
                <a:latin typeface="Aptos"/>
              </a:defRPr>
            </a:pPr>
            <a:r>
              <a:t>SCREEN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3107" y="5276088"/>
            <a:ext cx="874166" cy="219456"/>
          </a:xfrm>
          <a:prstGeom prst="rect">
            <a:avLst/>
          </a:prstGeom>
          <a:noFill/>
        </p:spPr>
        <p:txBody>
          <a:bodyPr wrap="none" lIns="9144" rIns="9144" tIns="0" bIns="0" anchor="ctr">
            <a:spAutoFit/>
          </a:bodyPr>
          <a:lstStyle/>
          <a:p>
            <a:pPr algn="ctr">
              <a:defRPr sz="850" b="1">
                <a:solidFill>
                  <a:srgbClr val="FFB957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47273" y="5276088"/>
            <a:ext cx="874166" cy="219456"/>
          </a:xfrm>
          <a:prstGeom prst="rect">
            <a:avLst/>
          </a:prstGeom>
          <a:noFill/>
        </p:spPr>
        <p:txBody>
          <a:bodyPr wrap="none" lIns="9144" rIns="9144" tIns="0" bIns="0" anchor="ctr">
            <a:spAutoFit/>
          </a:bodyPr>
          <a:lstStyle/>
          <a:p>
            <a:pPr algn="ctr">
              <a:defRPr sz="850" b="1">
                <a:solidFill>
                  <a:srgbClr val="FF6DA0"/>
                </a:solidFill>
                <a:latin typeface="Aptos"/>
              </a:defRPr>
            </a:pPr>
            <a:r>
              <a:t>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How a session might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From exam start to human-reviewed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candidate receives clear instructions and gives the required consent before any optional monitoring begins.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Video and audio are analysed in real time or after the assessment, depending on the exam design.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system records selected events with timestamps instead of forcing a reviewer to watch every second equally.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trained reviewer checks context, records a decision, and can dismiss false alarms.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 Cheating Detection Dashboard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The Assesa workflow, end to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4DDBFF"/>
                </a:solidFill>
                <a:latin typeface="Aptos"/>
              </a:defRPr>
            </a:pPr>
            <a:r>
              <a:t>One assessment becomes a traceable review process—not an automatic verdict.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01952"/>
            <a:ext cx="1700784" cy="2084831"/>
          </a:xfrm>
          <a:prstGeom prst="roundRect">
            <a:avLst/>
          </a:prstGeom>
          <a:solidFill>
            <a:srgbClr val="081935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011680"/>
            <a:ext cx="329184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185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404872"/>
            <a:ext cx="1444752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2843784"/>
            <a:ext cx="1444752" cy="8046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Rules, access,</a:t>
            </a:r>
          </a:p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consent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35708" y="2980944"/>
            <a:ext cx="201168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68880" y="1901952"/>
            <a:ext cx="1700784" cy="2084831"/>
          </a:xfrm>
          <a:prstGeom prst="roundRect">
            <a:avLst/>
          </a:prstGeom>
          <a:solidFill>
            <a:srgbClr val="081935"/>
          </a:solidFill>
          <a:ln w="1143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2011680"/>
            <a:ext cx="329184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2404872"/>
            <a:ext cx="1444752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843784"/>
            <a:ext cx="1444752" cy="8046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Permitted video,</a:t>
            </a:r>
          </a:p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audio, optional screen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1668" y="2980944"/>
            <a:ext cx="201168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34840" y="1901952"/>
            <a:ext cx="1700784" cy="2084831"/>
          </a:xfrm>
          <a:prstGeom prst="roundRect">
            <a:avLst/>
          </a:prstGeom>
          <a:solidFill>
            <a:srgbClr val="081935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5" y="2011680"/>
            <a:ext cx="329184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A17E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5" y="2404872"/>
            <a:ext cx="1444752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5" y="2843784"/>
            <a:ext cx="1444752" cy="8046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Specialist models</a:t>
            </a:r>
          </a:p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check narrow signals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67628" y="2980944"/>
            <a:ext cx="201168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799" y="1901952"/>
            <a:ext cx="1700784" cy="2084831"/>
          </a:xfrm>
          <a:prstGeom prst="roundRect">
            <a:avLst/>
          </a:prstGeom>
          <a:solidFill>
            <a:srgbClr val="081935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5" y="2011680"/>
            <a:ext cx="329184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48E1B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5" y="2404872"/>
            <a:ext cx="1444752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5" y="2843784"/>
            <a:ext cx="1444752" cy="8046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Create time-stamped</a:t>
            </a:r>
          </a:p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event records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33588" y="2980944"/>
            <a:ext cx="201167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366760" y="1901952"/>
            <a:ext cx="1700784" cy="2084831"/>
          </a:xfrm>
          <a:prstGeom prst="roundRect">
            <a:avLst/>
          </a:prstGeom>
          <a:solidFill>
            <a:srgbClr val="081935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6" y="2011680"/>
            <a:ext cx="329184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FB95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2404872"/>
            <a:ext cx="1444752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4776" y="2843784"/>
            <a:ext cx="1444752" cy="8046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Human checks</a:t>
            </a:r>
          </a:p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context and policy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099548" y="2980944"/>
            <a:ext cx="201167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332720" y="1901952"/>
            <a:ext cx="1700784" cy="2084831"/>
          </a:xfrm>
          <a:prstGeom prst="roundRect">
            <a:avLst/>
          </a:prstGeom>
          <a:solidFill>
            <a:srgbClr val="081935"/>
          </a:solidFill>
          <a:ln w="11430">
            <a:solidFill>
              <a:srgbClr val="FF6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2011680"/>
            <a:ext cx="329184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F6D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2404872"/>
            <a:ext cx="1444752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0736" y="2843784"/>
            <a:ext cx="1444752" cy="8046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Session summary</a:t>
            </a:r>
          </a:p>
          <a:p>
            <a:pPr algn="l">
              <a:spcAft>
                <a:spcPts val="500"/>
              </a:spcAft>
              <a:defRPr sz="1120" b="0" i="0">
                <a:solidFill>
                  <a:srgbClr val="A6C0E0"/>
                </a:solidFill>
                <a:latin typeface="Aptos"/>
              </a:defRPr>
            </a:pPr>
            <a:r>
              <a:t>and permitted trends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07408"/>
            <a:ext cx="10899648" cy="1170432"/>
          </a:xfrm>
          <a:prstGeom prst="roundRect">
            <a:avLst/>
          </a:prstGeom>
          <a:solidFill>
            <a:srgbClr val="07162E"/>
          </a:solidFill>
          <a:ln w="11430">
            <a:solidFill>
              <a:srgbClr val="25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572000"/>
            <a:ext cx="5029200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EFF7FF"/>
                </a:solidFill>
                <a:latin typeface="Aptos"/>
              </a:defRPr>
            </a:pPr>
            <a:r>
              <a:t>Every event should carry five pieces of context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" y="5010912"/>
            <a:ext cx="1234440" cy="283464"/>
          </a:xfrm>
          <a:prstGeom prst="roundRect">
            <a:avLst/>
          </a:prstGeom>
          <a:solidFill>
            <a:srgbClr val="0A2246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" y="5024628"/>
            <a:ext cx="1088136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860" b="1" i="0">
                <a:solidFill>
                  <a:srgbClr val="3185FF"/>
                </a:solidFill>
                <a:latin typeface="Aptos"/>
              </a:defRPr>
            </a:pPr>
            <a:r>
              <a:t>TIMESTAMP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40280" y="5010912"/>
            <a:ext cx="960120" cy="283464"/>
          </a:xfrm>
          <a:prstGeom prst="roundRect">
            <a:avLst/>
          </a:prstGeom>
          <a:solidFill>
            <a:srgbClr val="0A2246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3432" y="5024628"/>
            <a:ext cx="813816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860" b="1" i="0">
                <a:solidFill>
                  <a:srgbClr val="A17EFF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10128" y="5010912"/>
            <a:ext cx="1417320" cy="283464"/>
          </a:xfrm>
          <a:prstGeom prst="roundRect">
            <a:avLst/>
          </a:prstGeom>
          <a:solidFill>
            <a:srgbClr val="0A2246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5024628"/>
            <a:ext cx="1271016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860" b="1" i="0">
                <a:solidFill>
                  <a:srgbClr val="48E1B3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37176" y="5010912"/>
            <a:ext cx="1965960" cy="283464"/>
          </a:xfrm>
          <a:prstGeom prst="roundRect">
            <a:avLst/>
          </a:prstGeom>
          <a:solidFill>
            <a:srgbClr val="0A2246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10328" y="5024628"/>
            <a:ext cx="1819656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860" b="1" i="0">
                <a:solidFill>
                  <a:srgbClr val="FFB957"/>
                </a:solidFill>
                <a:latin typeface="Aptos"/>
              </a:defRPr>
            </a:pPr>
            <a:r>
              <a:t>QUALITY / CONFIDENCE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12864" y="5010912"/>
            <a:ext cx="1417320" cy="283464"/>
          </a:xfrm>
          <a:prstGeom prst="roundRect">
            <a:avLst/>
          </a:prstGeom>
          <a:solidFill>
            <a:srgbClr val="0A2246"/>
          </a:solidFill>
          <a:ln w="11430">
            <a:solidFill>
              <a:srgbClr val="FF6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86016" y="5024628"/>
            <a:ext cx="1271016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860" b="1" i="0">
                <a:solidFill>
                  <a:srgbClr val="FF6DA0"/>
                </a:solidFill>
                <a:latin typeface="Aptos"/>
              </a:defRPr>
            </a:pPr>
            <a:r>
              <a:t>REVIEW 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5797296"/>
            <a:ext cx="10332720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A6C0E0"/>
                </a:solidFill>
                <a:latin typeface="Aptos"/>
              </a:defRPr>
            </a:pPr>
            <a:r>
              <a:t>This structure makes evidence easier to inspect and easier to challenge.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Before, during, and after the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A17EFF"/>
                </a:solidFill>
                <a:latin typeface="Aptos"/>
              </a:defRPr>
            </a:pPr>
            <a:r>
              <a:t>Different people take different actions at each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755648"/>
            <a:ext cx="3547872" cy="4224528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" y="1965960"/>
            <a:ext cx="3136392" cy="502920"/>
          </a:xfrm>
          <a:prstGeom prst="roundRect">
            <a:avLst/>
          </a:prstGeom>
          <a:solidFill>
            <a:srgbClr val="0D2A54"/>
          </a:solidFill>
          <a:ln w="1270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057400"/>
            <a:ext cx="2926080" cy="256032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3185FF"/>
                </a:solidFill>
                <a:latin typeface="Aptos"/>
              </a:defRPr>
            </a:pPr>
            <a: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633472"/>
            <a:ext cx="3017520" cy="329184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130" b="1" i="0">
                <a:solidFill>
                  <a:srgbClr val="EFF7FF"/>
                </a:solidFill>
                <a:latin typeface="Aptos"/>
              </a:defRPr>
            </a:pPr>
            <a:r>
              <a:t>Institution + candidate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236976"/>
            <a:ext cx="91440" cy="91440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127248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Define allowed signals and session rules.</a:t>
            </a:r>
          </a:p>
        </p:txBody>
      </p:sp>
      <p:sp>
        <p:nvSpPr>
          <p:cNvPr id="19" name="Oval 18"/>
          <p:cNvSpPr/>
          <p:nvPr/>
        </p:nvSpPr>
        <p:spPr>
          <a:xfrm>
            <a:off x="850392" y="4078224"/>
            <a:ext cx="91440" cy="9144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968496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Explain monitoring and obtain required consent.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" y="4919472"/>
            <a:ext cx="91440" cy="9144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09744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Check camera, microphone, browser support, and instructions.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78808" y="3794760"/>
            <a:ext cx="256032" cy="0"/>
          </a:xfrm>
          <a:prstGeom prst="line">
            <a:avLst/>
          </a:prstGeom>
          <a:ln w="2286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480560" y="1755648"/>
            <a:ext cx="3547872" cy="4224528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81728" y="1965960"/>
            <a:ext cx="3136392" cy="502920"/>
          </a:xfrm>
          <a:prstGeom prst="roundRect">
            <a:avLst/>
          </a:prstGeom>
          <a:solidFill>
            <a:srgbClr val="0D2A54"/>
          </a:solidFill>
          <a:ln w="1270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91456" y="2057400"/>
            <a:ext cx="2926080" cy="256032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A17EFF"/>
                </a:solidFill>
                <a:latin typeface="Aptos"/>
              </a:defRPr>
            </a:pPr>
            <a:r>
              <a:t>DURING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2633472"/>
            <a:ext cx="3017520" cy="329184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130" b="1" i="0">
                <a:solidFill>
                  <a:srgbClr val="EFF7FF"/>
                </a:solidFill>
                <a:latin typeface="Aptos"/>
              </a:defRPr>
            </a:pPr>
            <a:r>
              <a:t>Assesa platform</a:t>
            </a:r>
          </a:p>
        </p:txBody>
      </p:sp>
      <p:sp>
        <p:nvSpPr>
          <p:cNvPr id="28" name="Oval 27"/>
          <p:cNvSpPr/>
          <p:nvPr/>
        </p:nvSpPr>
        <p:spPr>
          <a:xfrm>
            <a:off x="4736592" y="3236976"/>
            <a:ext cx="91440" cy="9144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127248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Capture only permitted signals.</a:t>
            </a:r>
          </a:p>
        </p:txBody>
      </p:sp>
      <p:sp>
        <p:nvSpPr>
          <p:cNvPr id="30" name="Oval 29"/>
          <p:cNvSpPr/>
          <p:nvPr/>
        </p:nvSpPr>
        <p:spPr>
          <a:xfrm>
            <a:off x="4736592" y="4078224"/>
            <a:ext cx="91440" cy="9144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3968496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Run selected modules and monitor input quality.</a:t>
            </a:r>
          </a:p>
        </p:txBody>
      </p:sp>
      <p:sp>
        <p:nvSpPr>
          <p:cNvPr id="32" name="Oval 31"/>
          <p:cNvSpPr/>
          <p:nvPr/>
        </p:nvSpPr>
        <p:spPr>
          <a:xfrm>
            <a:off x="4736592" y="4919472"/>
            <a:ext cx="91440" cy="9144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4809744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Optionally surface time-sensitive events when technically feasible.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65008" y="3794760"/>
            <a:ext cx="256032" cy="0"/>
          </a:xfrm>
          <a:prstGeom prst="line">
            <a:avLst/>
          </a:prstGeom>
          <a:ln w="2286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66760" y="1755648"/>
            <a:ext cx="3547872" cy="4224528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67928" y="1965960"/>
            <a:ext cx="3136392" cy="502920"/>
          </a:xfrm>
          <a:prstGeom prst="roundRect">
            <a:avLst/>
          </a:prstGeom>
          <a:solidFill>
            <a:srgbClr val="0D2A54"/>
          </a:solidFill>
          <a:ln w="1270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7656" y="2057400"/>
            <a:ext cx="2926080" cy="256032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48E1B3"/>
                </a:solidFill>
                <a:latin typeface="Aptos"/>
              </a:defRPr>
            </a:pPr>
            <a:r>
              <a:t>AFTER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2792" y="2633472"/>
            <a:ext cx="3017520" cy="329184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130" b="1" i="0">
                <a:solidFill>
                  <a:srgbClr val="EFF7FF"/>
                </a:solidFill>
                <a:latin typeface="Aptos"/>
              </a:defRPr>
            </a:pPr>
            <a:r>
              <a:t>Reviewer + institution</a:t>
            </a:r>
          </a:p>
        </p:txBody>
      </p:sp>
      <p:sp>
        <p:nvSpPr>
          <p:cNvPr id="39" name="Oval 38"/>
          <p:cNvSpPr/>
          <p:nvPr/>
        </p:nvSpPr>
        <p:spPr>
          <a:xfrm>
            <a:off x="8622792" y="3236976"/>
            <a:ext cx="91440" cy="91440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3127248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Inspect clips and context around flagged moments.</a:t>
            </a:r>
          </a:p>
        </p:txBody>
      </p:sp>
      <p:sp>
        <p:nvSpPr>
          <p:cNvPr id="41" name="Oval 40"/>
          <p:cNvSpPr/>
          <p:nvPr/>
        </p:nvSpPr>
        <p:spPr>
          <a:xfrm>
            <a:off x="8622792" y="4078224"/>
            <a:ext cx="91440" cy="9144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3968496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Record the rationale and outcome under policy.</a:t>
            </a:r>
          </a:p>
        </p:txBody>
      </p:sp>
      <p:sp>
        <p:nvSpPr>
          <p:cNvPr id="43" name="Oval 42"/>
          <p:cNvSpPr/>
          <p:nvPr/>
        </p:nvSpPr>
        <p:spPr>
          <a:xfrm>
            <a:off x="8622792" y="4919472"/>
            <a:ext cx="91440" cy="9144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4809744"/>
            <a:ext cx="2816351" cy="813816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210" b="0" i="0">
                <a:solidFill>
                  <a:srgbClr val="EFF7FF"/>
                </a:solidFill>
                <a:latin typeface="Aptos"/>
              </a:defRPr>
            </a:pPr>
            <a:r>
              <a:t>Use privacy-protected aggregate measures to improve the process.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6163056"/>
            <a:ext cx="1078992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1" i="0">
                <a:solidFill>
                  <a:srgbClr val="4DDBFF"/>
                </a:solidFill>
                <a:latin typeface="Aptos"/>
              </a:defRPr>
            </a:pPr>
            <a:r>
              <a:t>The platform prepares review material; authorised people make consequential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Goal 1 — Unified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4DDBFF"/>
                </a:solidFill>
                <a:latin typeface="Aptos"/>
              </a:defRPr>
            </a:pPr>
            <a:r>
              <a:t>Bring permitted observations into one review trail, with source and context intact.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664208"/>
            <a:ext cx="2286000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A6C0E0"/>
                </a:solidFill>
                <a:latin typeface="Aptos"/>
              </a:defRPr>
            </a:pPr>
            <a:r>
              <a:t>PERMITTED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48256"/>
            <a:ext cx="2331720" cy="804672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157984"/>
            <a:ext cx="1993392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Webcam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441448"/>
            <a:ext cx="1993392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Frames, visibility, selected devices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2441448"/>
            <a:ext cx="640080" cy="960120"/>
          </a:xfrm>
          <a:prstGeom prst="line">
            <a:avLst/>
          </a:prstGeom>
          <a:ln w="19050">
            <a:solidFill>
              <a:srgbClr val="318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3127248"/>
            <a:ext cx="2331720" cy="804672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36976"/>
            <a:ext cx="1993392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Microphone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520440"/>
            <a:ext cx="1993392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Speech / sound events where allowed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017520" y="3401568"/>
            <a:ext cx="640080" cy="118872"/>
          </a:xfrm>
          <a:prstGeom prst="line">
            <a:avLst/>
          </a:prstGeom>
          <a:ln w="19050">
            <a:solidFill>
              <a:srgbClr val="A17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4206240"/>
            <a:ext cx="2331720" cy="804672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315968"/>
            <a:ext cx="1993392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Optional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99431"/>
            <a:ext cx="1993392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Supported browser or application signals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017520" y="3401568"/>
            <a:ext cx="640080" cy="1197863"/>
          </a:xfrm>
          <a:prstGeom prst="line">
            <a:avLst/>
          </a:prstGeom>
          <a:ln w="19050">
            <a:solidFill>
              <a:srgbClr val="48E1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57600" y="1965960"/>
            <a:ext cx="4160520" cy="3337560"/>
          </a:xfrm>
          <a:prstGeom prst="roundRect">
            <a:avLst/>
          </a:prstGeom>
          <a:solidFill>
            <a:srgbClr val="081936"/>
          </a:solidFill>
          <a:ln w="1143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2167128"/>
            <a:ext cx="3611880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4DDBFF"/>
                </a:solidFill>
                <a:latin typeface="Aptos"/>
              </a:defRPr>
            </a:pPr>
            <a:r>
              <a:t>COMMON EVENT RECORD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58768" y="2651760"/>
            <a:ext cx="3749039" cy="347472"/>
          </a:xfrm>
          <a:prstGeom prst="roundRect">
            <a:avLst/>
          </a:prstGeom>
          <a:solidFill>
            <a:srgbClr val="0D2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86784" y="2670048"/>
            <a:ext cx="1024128" cy="256032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A6C0E0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2670048"/>
            <a:ext cx="2487168" cy="265176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19" b="0" i="0">
                <a:solidFill>
                  <a:srgbClr val="EFF7FF"/>
                </a:solidFill>
                <a:latin typeface="Aptos"/>
              </a:defRPr>
            </a:pPr>
            <a:r>
              <a:t>00:11:24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84" y="3063240"/>
            <a:ext cx="1024128" cy="256032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A6C0E0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1768" y="3063240"/>
            <a:ext cx="2487168" cy="265176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19" b="0" i="0">
                <a:solidFill>
                  <a:srgbClr val="EFF7FF"/>
                </a:solidFill>
                <a:latin typeface="Aptos"/>
              </a:defRPr>
            </a:pPr>
            <a:r>
              <a:t>Webcam • frame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58768" y="3438144"/>
            <a:ext cx="3749039" cy="347472"/>
          </a:xfrm>
          <a:prstGeom prst="roundRect">
            <a:avLst/>
          </a:prstGeom>
          <a:solidFill>
            <a:srgbClr val="0D2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86784" y="3456432"/>
            <a:ext cx="1024128" cy="256032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A6C0E0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3456432"/>
            <a:ext cx="2487168" cy="265176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19" b="0" i="0">
                <a:solidFill>
                  <a:srgbClr val="EFF7FF"/>
                </a:solidFill>
                <a:latin typeface="Aptos"/>
              </a:defRPr>
            </a:pPr>
            <a:r>
              <a:t>Phone-like object detected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6784" y="3849624"/>
            <a:ext cx="1024128" cy="256032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A6C0E0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3849624"/>
            <a:ext cx="2487168" cy="265176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19" b="0" i="0">
                <a:solidFill>
                  <a:srgbClr val="EFF7FF"/>
                </a:solidFill>
                <a:latin typeface="Aptos"/>
              </a:defRPr>
            </a:pPr>
            <a:r>
              <a:t>Partially occluded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58768" y="4224528"/>
            <a:ext cx="3749039" cy="347472"/>
          </a:xfrm>
          <a:prstGeom prst="roundRect">
            <a:avLst/>
          </a:prstGeom>
          <a:solidFill>
            <a:srgbClr val="0D2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784" y="4242816"/>
            <a:ext cx="1024128" cy="256032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A6C0E0"/>
                </a:solidFill>
                <a:latin typeface="Aptos"/>
              </a:defRPr>
            </a:pPr>
            <a:r>
              <a:t>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768" y="4242816"/>
            <a:ext cx="2487168" cy="265176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19" b="0" i="0">
                <a:solidFill>
                  <a:srgbClr val="EFF7FF"/>
                </a:solidFill>
                <a:latin typeface="Aptos"/>
              </a:defRPr>
            </a:pPr>
            <a:r>
              <a:t>Uncalibrated model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86784" y="4636008"/>
            <a:ext cx="1024128" cy="256032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A6C0E0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4636008"/>
            <a:ext cx="2487168" cy="265176"/>
          </a:xfrm>
          <a:prstGeom prst="rect">
            <a:avLst/>
          </a:prstGeom>
          <a:noFill/>
        </p:spPr>
        <p:txBody>
          <a:bodyPr wrap="square" lIns="4572" rIns="4572" tIns="3200" bIns="2286" anchor="t">
            <a:spAutoFit/>
          </a:bodyPr>
          <a:lstStyle/>
          <a:p>
            <a:pPr algn="l">
              <a:spcAft>
                <a:spcPts val="500"/>
              </a:spcAft>
              <a:defRPr sz="1019" b="0" i="0">
                <a:solidFill>
                  <a:srgbClr val="EFF7FF"/>
                </a:solidFill>
                <a:latin typeface="Aptos"/>
              </a:defRPr>
            </a:pPr>
            <a:r>
              <a:t>Awaiting human review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845552" y="3337560"/>
            <a:ext cx="530352" cy="0"/>
          </a:xfrm>
          <a:prstGeom prst="line">
            <a:avLst/>
          </a:prstGeom>
          <a:ln w="2286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30768" y="1664208"/>
            <a:ext cx="2743200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A6C0E0"/>
                </a:solidFill>
                <a:latin typeface="Aptos"/>
              </a:defRPr>
            </a:pPr>
            <a:r>
              <a:t>ONE REVIEW WORKSPACE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03336" y="2048256"/>
            <a:ext cx="3127248" cy="804672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2157984"/>
            <a:ext cx="2761488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Reviewer queue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072" y="2441448"/>
            <a:ext cx="2761488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9" b="0" i="0">
                <a:solidFill>
                  <a:srgbClr val="A6C0E0"/>
                </a:solidFill>
                <a:latin typeface="Aptos"/>
              </a:defRPr>
            </a:pPr>
            <a:r>
              <a:t>Events waiting for context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03336" y="3127248"/>
            <a:ext cx="3127248" cy="804672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FF6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3236976"/>
            <a:ext cx="2761488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Session report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3520440"/>
            <a:ext cx="2761488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9" b="0" i="0">
                <a:solidFill>
                  <a:srgbClr val="A6C0E0"/>
                </a:solidFill>
                <a:latin typeface="Aptos"/>
              </a:defRPr>
            </a:pPr>
            <a:r>
              <a:t>What was observed and resolved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03336" y="4206240"/>
            <a:ext cx="3127248" cy="804672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4315968"/>
            <a:ext cx="2761488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20" b="1" i="0">
                <a:solidFill>
                  <a:srgbClr val="EFF7FF"/>
                </a:solidFill>
                <a:latin typeface="Aptos"/>
              </a:defRPr>
            </a:pPr>
            <a:r>
              <a:t>Aggregate trends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77072" y="4599431"/>
            <a:ext cx="2761488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9" b="0" i="0">
                <a:solidFill>
                  <a:srgbClr val="A6C0E0"/>
                </a:solidFill>
                <a:latin typeface="Aptos"/>
              </a:defRPr>
            </a:pPr>
            <a:r>
              <a:t>Process and quality measures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5806440"/>
            <a:ext cx="1060704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1" i="0">
                <a:solidFill>
                  <a:srgbClr val="4DDBFF"/>
                </a:solidFill>
                <a:latin typeface="Aptos"/>
              </a:defRPr>
            </a:pPr>
            <a:r>
              <a:t>Unified does not mean collecting everything. It means connecting only permitted signals without losing provenance.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Goal 2 — Accessible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A17EFF"/>
                </a:solidFill>
                <a:latin typeface="Aptos"/>
              </a:defRPr>
            </a:pPr>
            <a:r>
              <a:t>Make the workflow usable across different devices, rooms, and institutional resources.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673352"/>
            <a:ext cx="3657600" cy="25603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A6C0E0"/>
                </a:solidFill>
                <a:latin typeface="Aptos"/>
              </a:defRPr>
            </a:pPr>
            <a:r>
              <a:t>REAL CONDITIONS VARY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39112"/>
            <a:ext cx="4069080" cy="804672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" y="2240280"/>
            <a:ext cx="365760" cy="365760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258568"/>
            <a:ext cx="36576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30B1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130552"/>
            <a:ext cx="301752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80" b="1" i="0">
                <a:solidFill>
                  <a:srgbClr val="EFF7FF"/>
                </a:solidFill>
                <a:latin typeface="Aptos"/>
              </a:defRPr>
            </a:pPr>
            <a:r>
              <a:t>ROOM &amp;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423160"/>
            <a:ext cx="3017520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6C0E0"/>
                </a:solidFill>
                <a:latin typeface="Aptos"/>
              </a:defRPr>
            </a:pPr>
            <a:r>
              <a:t>Bright, dim, shared, or cluttered spaces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08960"/>
            <a:ext cx="4069080" cy="804672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" y="3310128"/>
            <a:ext cx="365760" cy="365760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3328415"/>
            <a:ext cx="36576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30B1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200400"/>
            <a:ext cx="301752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80" b="1" i="0">
                <a:solidFill>
                  <a:srgbClr val="EFF7FF"/>
                </a:solidFill>
                <a:latin typeface="Aptos"/>
              </a:defRPr>
            </a:pPr>
            <a:r>
              <a:t>DEVICE &amp;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493008"/>
            <a:ext cx="3017520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6C0E0"/>
                </a:solidFill>
                <a:latin typeface="Aptos"/>
              </a:defRPr>
            </a:pPr>
            <a:r>
              <a:t>Different cameras, microphones, speeds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78808"/>
            <a:ext cx="4069080" cy="804672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" y="4379976"/>
            <a:ext cx="365760" cy="365760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4398264"/>
            <a:ext cx="36576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030B1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270248"/>
            <a:ext cx="301752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80" b="1" i="0">
                <a:solidFill>
                  <a:srgbClr val="EFF7FF"/>
                </a:solidFill>
                <a:latin typeface="Aptos"/>
              </a:defRPr>
            </a:pPr>
            <a:r>
              <a:t>PEOPLE &amp; NEEDS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562856"/>
            <a:ext cx="3017520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A6C0E0"/>
                </a:solidFill>
                <a:latin typeface="Aptos"/>
              </a:defRPr>
            </a:pPr>
            <a:r>
              <a:t>Glasses, camera angle, accessibility needs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91456" y="3639312"/>
            <a:ext cx="557784" cy="0"/>
          </a:xfrm>
          <a:prstGeom prst="line">
            <a:avLst/>
          </a:prstGeom>
          <a:ln w="2540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40680" y="1801368"/>
            <a:ext cx="6053328" cy="3547872"/>
          </a:xfrm>
          <a:prstGeom prst="roundRect">
            <a:avLst/>
          </a:prstGeom>
          <a:solidFill>
            <a:srgbClr val="081936"/>
          </a:solidFill>
          <a:ln w="1143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87568" y="2011680"/>
            <a:ext cx="5440680" cy="29260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4DDBFF"/>
                </a:solidFill>
                <a:latin typeface="Aptos"/>
              </a:defRPr>
            </a:pPr>
            <a:r>
              <a:t>DESIGN RESPONSES</a:t>
            </a:r>
          </a:p>
        </p:txBody>
      </p:sp>
      <p:sp>
        <p:nvSpPr>
          <p:cNvPr id="32" name="Oval 31"/>
          <p:cNvSpPr/>
          <p:nvPr/>
        </p:nvSpPr>
        <p:spPr>
          <a:xfrm>
            <a:off x="5715000" y="2615184"/>
            <a:ext cx="109728" cy="109728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523744"/>
            <a:ext cx="196596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1" i="0">
                <a:solidFill>
                  <a:srgbClr val="EFF7FF"/>
                </a:solidFill>
                <a:latin typeface="Aptos"/>
              </a:defRPr>
            </a:pPr>
            <a:r>
              <a:t>Quality before 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2523744"/>
            <a:ext cx="3246120" cy="4389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If a feed is poor, say so instead of over-interpreting it.</a:t>
            </a:r>
          </a:p>
        </p:txBody>
      </p:sp>
      <p:sp>
        <p:nvSpPr>
          <p:cNvPr id="35" name="Oval 34"/>
          <p:cNvSpPr/>
          <p:nvPr/>
        </p:nvSpPr>
        <p:spPr>
          <a:xfrm>
            <a:off x="5715000" y="3255264"/>
            <a:ext cx="109728" cy="109728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163824"/>
            <a:ext cx="196596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1" i="0">
                <a:solidFill>
                  <a:srgbClr val="EFF7FF"/>
                </a:solidFill>
                <a:latin typeface="Aptos"/>
              </a:defRPr>
            </a:pPr>
            <a:r>
              <a:t>Graceful alternatives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163824"/>
            <a:ext cx="3246120" cy="4389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Support post-assessment review when live processing is not feasible.</a:t>
            </a:r>
          </a:p>
        </p:txBody>
      </p:sp>
      <p:sp>
        <p:nvSpPr>
          <p:cNvPr id="38" name="Oval 37"/>
          <p:cNvSpPr/>
          <p:nvPr/>
        </p:nvSpPr>
        <p:spPr>
          <a:xfrm>
            <a:off x="5715000" y="3895344"/>
            <a:ext cx="109728" cy="109728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3803904"/>
            <a:ext cx="196596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1" i="0">
                <a:solidFill>
                  <a:srgbClr val="EFF7FF"/>
                </a:solidFill>
                <a:latin typeface="Aptos"/>
              </a:defRPr>
            </a:pPr>
            <a:r>
              <a:t>Clear instructions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2127" y="3803904"/>
            <a:ext cx="3246120" cy="4389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Tell candidates what is monitored and how to prepare.</a:t>
            </a:r>
          </a:p>
        </p:txBody>
      </p:sp>
      <p:sp>
        <p:nvSpPr>
          <p:cNvPr id="41" name="Oval 40"/>
          <p:cNvSpPr/>
          <p:nvPr/>
        </p:nvSpPr>
        <p:spPr>
          <a:xfrm>
            <a:off x="5715000" y="4535423"/>
            <a:ext cx="109728" cy="109728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4443983"/>
            <a:ext cx="196596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1" i="0">
                <a:solidFill>
                  <a:srgbClr val="EFF7FF"/>
                </a:solidFill>
                <a:latin typeface="Aptos"/>
              </a:defRPr>
            </a:pPr>
            <a:r>
              <a:t>Accessible reviewer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4443983"/>
            <a:ext cx="3246120" cy="4389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Keyboard access, readable contrast, clear labels, assistive technology testing.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5733288"/>
            <a:ext cx="10789920" cy="3840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A17EFF"/>
                </a:solidFill>
                <a:latin typeface="Aptos"/>
              </a:defRPr>
            </a:pPr>
            <a:r>
              <a:t>Here, “accessible” means practical to adopt across varied settings; formal accessibility still needs dedicated design and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Goal 3 — 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48E1B3"/>
                </a:solidFill>
                <a:latin typeface="Aptos"/>
              </a:defRPr>
            </a:pPr>
            <a:r>
              <a:t>Surface useful prompts promptly when the setup supports it—not instant accusations.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057400"/>
            <a:ext cx="2011680" cy="1618488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8096" y="2221992"/>
            <a:ext cx="320040" cy="320040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231136"/>
            <a:ext cx="32004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231136"/>
            <a:ext cx="1325880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770632"/>
            <a:ext cx="1682496" cy="5669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0" i="0">
                <a:solidFill>
                  <a:srgbClr val="A6C0E0"/>
                </a:solidFill>
                <a:latin typeface="Aptos"/>
              </a:defRPr>
            </a:pPr>
            <a:r>
              <a:t>Webcam / mic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2862072"/>
            <a:ext cx="274320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44368" y="2057400"/>
            <a:ext cx="2011680" cy="1618488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90672" y="2221992"/>
            <a:ext cx="320040" cy="32004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2231136"/>
            <a:ext cx="32004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231136"/>
            <a:ext cx="1325880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CHECK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770632"/>
            <a:ext cx="1682496" cy="5669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0" i="0">
                <a:solidFill>
                  <a:srgbClr val="A6C0E0"/>
                </a:solidFill>
                <a:latin typeface="Aptos"/>
              </a:defRPr>
            </a:pPr>
            <a:r>
              <a:t>Blur, gaps, visibility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74336" y="2862072"/>
            <a:ext cx="274320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266944" y="2057400"/>
            <a:ext cx="2011680" cy="1618488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13248" y="2221992"/>
            <a:ext cx="320040" cy="32004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2231136"/>
            <a:ext cx="32004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3" y="2231136"/>
            <a:ext cx="1325880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1536" y="2770632"/>
            <a:ext cx="1682496" cy="5669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0" i="0">
                <a:solidFill>
                  <a:srgbClr val="A6C0E0"/>
                </a:solidFill>
                <a:latin typeface="Aptos"/>
              </a:defRPr>
            </a:pPr>
            <a:r>
              <a:t>Narrow model task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96912" y="2862072"/>
            <a:ext cx="274320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589520" y="2057400"/>
            <a:ext cx="2011680" cy="1618488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35824" y="2221992"/>
            <a:ext cx="320040" cy="320040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35824" y="2231136"/>
            <a:ext cx="32004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231136"/>
            <a:ext cx="1325880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CREATE EVENT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2770632"/>
            <a:ext cx="1682496" cy="5669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0" i="0">
                <a:solidFill>
                  <a:srgbClr val="A6C0E0"/>
                </a:solidFill>
                <a:latin typeface="Aptos"/>
              </a:defRPr>
            </a:pPr>
            <a:r>
              <a:t>Time + source + context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19488" y="2862072"/>
            <a:ext cx="274320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12096" y="2057400"/>
            <a:ext cx="2011680" cy="1618488"/>
          </a:xfrm>
          <a:prstGeom prst="roundRect">
            <a:avLst/>
          </a:prstGeom>
          <a:solidFill>
            <a:srgbClr val="081835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58400" y="2221992"/>
            <a:ext cx="320040" cy="320040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2231136"/>
            <a:ext cx="320040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2231136"/>
            <a:ext cx="1325880" cy="31089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QUEUE FOR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2770632"/>
            <a:ext cx="1682496" cy="5669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0" i="0">
                <a:solidFill>
                  <a:srgbClr val="A6C0E0"/>
                </a:solidFill>
                <a:latin typeface="Aptos"/>
              </a:defRPr>
            </a:pPr>
            <a:r>
              <a:t>Optional live prompt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251960"/>
            <a:ext cx="10835640" cy="1225296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2D5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4453128"/>
            <a:ext cx="2743200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4DDBFF"/>
                </a:solidFill>
                <a:latin typeface="Aptos"/>
              </a:defRPr>
            </a:pPr>
            <a:r>
              <a:t>What “real-time” requires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453128"/>
            <a:ext cx="7424927" cy="3383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50" b="1" i="0">
                <a:solidFill>
                  <a:srgbClr val="EFF7FF"/>
                </a:solidFill>
                <a:latin typeface="Aptos"/>
              </a:defRPr>
            </a:pPr>
            <a:r>
              <a:t>Low enough processing latency  •  stable input  •  device/browser compatibility  •  clear escalation rules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4965192"/>
            <a:ext cx="10012680" cy="32004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80" b="0" i="0">
                <a:solidFill>
                  <a:srgbClr val="A6C0E0"/>
                </a:solidFill>
                <a:latin typeface="Aptos"/>
              </a:defRPr>
            </a:pPr>
            <a:r>
              <a:t>If any dependency fails, mark the limitation and preserve a post-assessment review path. Live processing is a design goal, not a guarantee.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Goal 4 —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FB957"/>
                </a:solidFill>
                <a:latin typeface="Aptos"/>
              </a:defRPr>
            </a:pPr>
            <a:r>
              <a:t>Measure review operations and system quality—not a student's character or intent.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783080"/>
            <a:ext cx="2578608" cy="1124712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1920240"/>
            <a:ext cx="228600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1" i="0">
                <a:solidFill>
                  <a:srgbClr val="3185FF"/>
                </a:solidFill>
                <a:latin typeface="Aptos"/>
              </a:defRPr>
            </a:pPr>
            <a:r>
              <a:t>SESSIONS REVIEWED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194560"/>
            <a:ext cx="82296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EFF7FF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2267712"/>
            <a:ext cx="141732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80" b="0" i="0">
                <a:solidFill>
                  <a:srgbClr val="A6C0E0"/>
                </a:solidFill>
                <a:latin typeface="Aptos"/>
              </a:defRPr>
            </a:pPr>
            <a:r>
              <a:t>Workload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1783080"/>
            <a:ext cx="2578608" cy="1124712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1920240"/>
            <a:ext cx="228600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1" i="0">
                <a:solidFill>
                  <a:srgbClr val="A17EFF"/>
                </a:solidFill>
                <a:latin typeface="Aptos"/>
              </a:defRPr>
            </a:pPr>
            <a:r>
              <a:t>EVENTS RESOLVED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194560"/>
            <a:ext cx="82296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EFF7FF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67712"/>
            <a:ext cx="141732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80" b="0" i="0">
                <a:solidFill>
                  <a:srgbClr val="A6C0E0"/>
                </a:solidFill>
                <a:latin typeface="Aptos"/>
              </a:defRPr>
            </a:pPr>
            <a:r>
              <a:t>Queue throughput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1783080"/>
            <a:ext cx="2578608" cy="1124712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1920240"/>
            <a:ext cx="228600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1" i="0">
                <a:solidFill>
                  <a:srgbClr val="48E1B3"/>
                </a:solidFill>
                <a:latin typeface="Aptos"/>
              </a:defRPr>
            </a:pPr>
            <a:r>
              <a:t>MEDIAN REVIEW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194560"/>
            <a:ext cx="82296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EFF7FF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267712"/>
            <a:ext cx="141732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80" b="0" i="0">
                <a:solidFill>
                  <a:srgbClr val="A6C0E0"/>
                </a:solidFill>
                <a:latin typeface="Aptos"/>
              </a:defRPr>
            </a:pPr>
            <a:r>
              <a:t>Review effort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0576" y="1783080"/>
            <a:ext cx="2578608" cy="1124712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7736" y="1920240"/>
            <a:ext cx="228600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1" i="0">
                <a:solidFill>
                  <a:srgbClr val="FFB957"/>
                </a:solidFill>
                <a:latin typeface="Aptos"/>
              </a:defRPr>
            </a:pPr>
            <a:r>
              <a:t>QUALITY WARNINGS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2194560"/>
            <a:ext cx="82296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EFF7FF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4976" y="2267712"/>
            <a:ext cx="141732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80" b="0" i="0">
                <a:solidFill>
                  <a:srgbClr val="A6C0E0"/>
                </a:solidFill>
                <a:latin typeface="Aptos"/>
              </a:defRPr>
            </a:pPr>
            <a:r>
              <a:t>Input reliability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182112"/>
            <a:ext cx="5413248" cy="2148840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364992"/>
            <a:ext cx="4937760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4DDBFF"/>
                </a:solidFill>
                <a:latin typeface="Aptos"/>
              </a:defRPr>
            </a:pPr>
            <a:r>
              <a:t>EVENTS BY CATEGORY  •  EXAMPLE DISPLAY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" y="4023360"/>
            <a:ext cx="384048" cy="932688"/>
          </a:xfrm>
          <a:prstGeom prst="round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504748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A6C0E0"/>
                </a:solidFill>
                <a:latin typeface="Aptos"/>
              </a:defRPr>
            </a:pPr>
            <a:r>
              <a:t>Visibility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20240" y="4297680"/>
            <a:ext cx="384048" cy="658368"/>
          </a:xfrm>
          <a:prstGeom prst="roundRect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46504" y="504748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A6C0E0"/>
                </a:solidFill>
                <a:latin typeface="Aptos"/>
              </a:defRPr>
            </a:pPr>
            <a:r>
              <a:t>Device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52928" y="4105656"/>
            <a:ext cx="384048" cy="850392"/>
          </a:xfrm>
          <a:prstGeom prst="roundRect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9192" y="504748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A6C0E0"/>
                </a:solidFill>
                <a:latin typeface="Aptos"/>
              </a:defRPr>
            </a:pPr>
            <a:r>
              <a:t>Audio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85616" y="4453128"/>
            <a:ext cx="384048" cy="502920"/>
          </a:xfrm>
          <a:prstGeom prst="roundRect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504748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A6C0E0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18304" y="4206240"/>
            <a:ext cx="384048" cy="749808"/>
          </a:xfrm>
          <a:prstGeom prst="roundRect">
            <a:avLst/>
          </a:prstGeom>
          <a:solidFill>
            <a:srgbClr val="FF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4568" y="504748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  <a:defRPr sz="800" b="0" i="0">
                <a:solidFill>
                  <a:srgbClr val="A6C0E0"/>
                </a:solidFill>
                <a:latin typeface="Aptos"/>
              </a:defRPr>
            </a:pPr>
            <a:r>
              <a:t>Other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3182112"/>
            <a:ext cx="5138928" cy="2148840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364992"/>
            <a:ext cx="4663440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4DDBFF"/>
                </a:solidFill>
                <a:latin typeface="Aptos"/>
              </a:defRPr>
            </a:pPr>
            <a:r>
              <a:t>REVIEW OUTCOMES  •  EXAMPLE DISPLAY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3803904"/>
            <a:ext cx="146304" cy="146304"/>
          </a:xfrm>
          <a:prstGeom prst="roundRect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785616"/>
            <a:ext cx="1481328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50" b="0" i="0">
                <a:solidFill>
                  <a:srgbClr val="EFF7FF"/>
                </a:solidFill>
                <a:latin typeface="Aptos"/>
              </a:defRPr>
            </a:pPr>
            <a:r>
              <a:t>Dismissed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30768" y="3826764"/>
            <a:ext cx="2240280" cy="91440"/>
          </a:xfrm>
          <a:prstGeom prst="round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30768" y="3826764"/>
            <a:ext cx="1325880" cy="91440"/>
          </a:xfrm>
          <a:prstGeom prst="roundRect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92240" y="4133088"/>
            <a:ext cx="146304" cy="146304"/>
          </a:xfrm>
          <a:prstGeom prst="roundRect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114800"/>
            <a:ext cx="1481328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50" b="0" i="0">
                <a:solidFill>
                  <a:srgbClr val="EFF7FF"/>
                </a:solidFill>
                <a:latin typeface="Aptos"/>
              </a:defRPr>
            </a:pPr>
            <a:r>
              <a:t>Needs context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30768" y="4155948"/>
            <a:ext cx="2240280" cy="91440"/>
          </a:xfrm>
          <a:prstGeom prst="round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30768" y="4155948"/>
            <a:ext cx="841248" cy="91440"/>
          </a:xfrm>
          <a:prstGeom prst="roundRect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92240" y="4462272"/>
            <a:ext cx="146304" cy="146304"/>
          </a:xfrm>
          <a:prstGeom prst="roundRect">
            <a:avLst/>
          </a:prstGeom>
          <a:solidFill>
            <a:srgbClr val="FF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4443984"/>
            <a:ext cx="1481328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50" b="0" i="0">
                <a:solidFill>
                  <a:srgbClr val="EFF7FF"/>
                </a:solidFill>
                <a:latin typeface="Aptos"/>
              </a:defRPr>
            </a:pPr>
            <a:r>
              <a:t>Escalated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30768" y="4485132"/>
            <a:ext cx="2240280" cy="91440"/>
          </a:xfrm>
          <a:prstGeom prst="round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30768" y="4485132"/>
            <a:ext cx="512064" cy="91440"/>
          </a:xfrm>
          <a:prstGeom prst="roundRect">
            <a:avLst/>
          </a:prstGeom>
          <a:solidFill>
            <a:srgbClr val="FF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92240" y="4791456"/>
            <a:ext cx="146304" cy="146304"/>
          </a:xfrm>
          <a:prstGeom prst="roundRect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0" y="4773168"/>
            <a:ext cx="1481328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50" b="0" i="0">
                <a:solidFill>
                  <a:srgbClr val="EFF7FF"/>
                </a:solidFill>
                <a:latin typeface="Aptos"/>
              </a:defRPr>
            </a:pPr>
            <a:r>
              <a:t>Quality issue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30768" y="4814316"/>
            <a:ext cx="2240280" cy="91440"/>
          </a:xfrm>
          <a:prstGeom prst="roundRect">
            <a:avLst/>
          </a:prstGeom>
          <a:solidFill>
            <a:srgbClr val="18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430768" y="4814316"/>
            <a:ext cx="713232" cy="91440"/>
          </a:xfrm>
          <a:prstGeom prst="roundRect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5696712"/>
            <a:ext cx="10698480" cy="32004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70" b="1" i="0">
                <a:solidFill>
                  <a:srgbClr val="FFB957"/>
                </a:solidFill>
                <a:latin typeface="Aptos"/>
              </a:defRPr>
            </a:pPr>
            <a:r>
              <a:t>All measures and bars are illustrative UI placeholders; no Assesa performance data is being claimed.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Dashboard walkthrough 1 — Session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4DDBFF"/>
                </a:solidFill>
                <a:latin typeface="Aptos"/>
              </a:defRPr>
            </a:pPr>
            <a:r>
              <a:t>The first screen should orient a reviewer before asking them to judge an event.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18488"/>
            <a:ext cx="7040880" cy="4498848"/>
          </a:xfrm>
          <a:prstGeom prst="roundRect">
            <a:avLst/>
          </a:prstGeom>
          <a:solidFill>
            <a:srgbClr val="051125"/>
          </a:solidFill>
          <a:ln w="11430">
            <a:solidFill>
              <a:srgbClr val="295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810512"/>
            <a:ext cx="6675120" cy="438912"/>
          </a:xfrm>
          <a:prstGeom prst="roundRect">
            <a:avLst/>
          </a:prstGeom>
          <a:solidFill>
            <a:srgbClr val="0C2345"/>
          </a:solidFill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1892807"/>
            <a:ext cx="4251960" cy="2286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19" b="1" i="0">
                <a:solidFill>
                  <a:srgbClr val="4DDBFF"/>
                </a:solidFill>
                <a:latin typeface="Aptos"/>
              </a:defRPr>
            </a:pPr>
            <a:r>
              <a:t>SESSION OVERVIEW  /  EXAMPLE MOCKUP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2432" y="1892807"/>
            <a:ext cx="1417320" cy="283464"/>
          </a:xfrm>
          <a:prstGeom prst="roundRect">
            <a:avLst/>
          </a:prstGeom>
          <a:solidFill>
            <a:srgbClr val="0A2246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4" y="1906524"/>
            <a:ext cx="1271016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860" b="1" i="0">
                <a:solidFill>
                  <a:srgbClr val="48E1B3"/>
                </a:solidFill>
                <a:latin typeface="Aptos"/>
              </a:defRPr>
            </a:pPr>
            <a:r>
              <a:t>LIVE / POST-SESSION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423160"/>
            <a:ext cx="3154680" cy="1901952"/>
          </a:xfrm>
          <a:prstGeom prst="roundRect">
            <a:avLst/>
          </a:prstGeom>
          <a:solidFill>
            <a:srgbClr val="081C3B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2551176"/>
            <a:ext cx="265176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50" b="1" i="0">
                <a:solidFill>
                  <a:srgbClr val="A6C0E0"/>
                </a:solidFill>
                <a:latin typeface="Aptos"/>
              </a:defRPr>
            </a:pPr>
            <a:r>
              <a:t>CAMERA PREVIEW</a:t>
            </a:r>
          </a:p>
        </p:txBody>
      </p:sp>
      <p:sp>
        <p:nvSpPr>
          <p:cNvPr id="20" name="Oval 19"/>
          <p:cNvSpPr/>
          <p:nvPr/>
        </p:nvSpPr>
        <p:spPr>
          <a:xfrm>
            <a:off x="1947672" y="2898648"/>
            <a:ext cx="594360" cy="594360"/>
          </a:xfrm>
          <a:prstGeom prst="ellipse">
            <a:avLst/>
          </a:prstGeom>
          <a:solidFill>
            <a:srgbClr val="17426F"/>
          </a:solidFill>
          <a:ln w="127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08760" y="3438144"/>
            <a:ext cx="1481328" cy="548640"/>
          </a:xfrm>
          <a:prstGeom prst="roundRect">
            <a:avLst/>
          </a:prstGeom>
          <a:solidFill>
            <a:srgbClr val="11335B"/>
          </a:solidFill>
          <a:ln w="127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087368"/>
            <a:ext cx="2834640" cy="18288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0" i="0">
                <a:solidFill>
                  <a:srgbClr val="EFF7FF"/>
                </a:solidFill>
                <a:latin typeface="Aptos"/>
              </a:defRPr>
            </a:pPr>
            <a:r>
              <a:t>Candidate visibility + feed quality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2423160"/>
            <a:ext cx="3127248" cy="1901952"/>
          </a:xfrm>
          <a:prstGeom prst="roundRect">
            <a:avLst/>
          </a:prstGeom>
          <a:solidFill>
            <a:srgbClr val="081C3B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2578608"/>
            <a:ext cx="265176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SESSION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2971800"/>
            <a:ext cx="150876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Video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2971800"/>
            <a:ext cx="109728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r">
              <a:spcAft>
                <a:spcPts val="500"/>
              </a:spcAft>
              <a:defRPr sz="980" b="1" i="0">
                <a:solidFill>
                  <a:srgbClr val="48E1B3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3355848"/>
            <a:ext cx="150876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Audio 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3355848"/>
            <a:ext cx="109728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r">
              <a:spcAft>
                <a:spcPts val="500"/>
              </a:spcAft>
              <a:defRPr sz="980" b="1" i="0">
                <a:solidFill>
                  <a:srgbClr val="3185FF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8536" y="3739896"/>
            <a:ext cx="150876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0" i="0">
                <a:solidFill>
                  <a:srgbClr val="A6C0E0"/>
                </a:solidFill>
                <a:latin typeface="Aptos"/>
              </a:defRPr>
            </a:pPr>
            <a:r>
              <a:t>Screen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3739896"/>
            <a:ext cx="109728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r">
              <a:spcAft>
                <a:spcPts val="500"/>
              </a:spcAft>
              <a:defRPr sz="980" b="1" i="0">
                <a:solidFill>
                  <a:srgbClr val="A17EFF"/>
                </a:solidFill>
                <a:latin typeface="Aptos"/>
              </a:defRPr>
            </a:pPr>
            <a:r>
              <a:t>Optional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517136"/>
            <a:ext cx="6446520" cy="1325880"/>
          </a:xfrm>
          <a:prstGeom prst="roundRect">
            <a:avLst/>
          </a:prstGeom>
          <a:solidFill>
            <a:srgbClr val="081C3B"/>
          </a:solidFill>
          <a:ln w="1143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4663440"/>
            <a:ext cx="160020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REVIEW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010912"/>
            <a:ext cx="512064" cy="3840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EFF7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084064"/>
            <a:ext cx="1280160" cy="24688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0" i="0">
                <a:solidFill>
                  <a:srgbClr val="A6C0E0"/>
                </a:solidFill>
                <a:latin typeface="Aptos"/>
              </a:defRPr>
            </a:pPr>
            <a:r>
              <a:t>Events to inspect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010912"/>
            <a:ext cx="512064" cy="3840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EFF7FF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084064"/>
            <a:ext cx="1280160" cy="24688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0" i="0">
                <a:solidFill>
                  <a:srgbClr val="A6C0E0"/>
                </a:solidFill>
                <a:latin typeface="Aptos"/>
              </a:defRPr>
            </a:pPr>
            <a:r>
              <a:t>Review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5010912"/>
            <a:ext cx="512064" cy="3840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EFF7FF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084064"/>
            <a:ext cx="1280160" cy="24688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0" i="0">
                <a:solidFill>
                  <a:srgbClr val="A6C0E0"/>
                </a:solidFill>
                <a:latin typeface="Aptos"/>
              </a:defRPr>
            </a:pPr>
            <a:r>
              <a:t>Model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1737360"/>
            <a:ext cx="3566160" cy="26517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1" i="0">
                <a:solidFill>
                  <a:srgbClr val="A6C0E0"/>
                </a:solidFill>
                <a:latin typeface="Aptos"/>
              </a:defRPr>
            </a:pPr>
            <a:r>
              <a:t>WHAT THE REVIEWER SHOULD LEARN</a:t>
            </a:r>
          </a:p>
        </p:txBody>
      </p:sp>
      <p:sp>
        <p:nvSpPr>
          <p:cNvPr id="40" name="Oval 39"/>
          <p:cNvSpPr/>
          <p:nvPr/>
        </p:nvSpPr>
        <p:spPr>
          <a:xfrm>
            <a:off x="7973568" y="2194560"/>
            <a:ext cx="365760" cy="365760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212848"/>
            <a:ext cx="365760" cy="292608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2189988"/>
            <a:ext cx="2926080" cy="36576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EFF7FF"/>
                </a:solidFill>
                <a:latin typeface="Aptos"/>
              </a:defRPr>
            </a:pPr>
            <a:r>
              <a:t>Which session is open?</a:t>
            </a:r>
          </a:p>
        </p:txBody>
      </p:sp>
      <p:sp>
        <p:nvSpPr>
          <p:cNvPr id="43" name="Oval 42"/>
          <p:cNvSpPr/>
          <p:nvPr/>
        </p:nvSpPr>
        <p:spPr>
          <a:xfrm>
            <a:off x="7973568" y="2962656"/>
            <a:ext cx="365760" cy="36576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2980944"/>
            <a:ext cx="365760" cy="292608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2958084"/>
            <a:ext cx="2926080" cy="36576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EFF7FF"/>
                </a:solidFill>
                <a:latin typeface="Aptos"/>
              </a:defRPr>
            </a:pPr>
            <a:r>
              <a:t>Is the video/audio usable?</a:t>
            </a:r>
          </a:p>
        </p:txBody>
      </p:sp>
      <p:sp>
        <p:nvSpPr>
          <p:cNvPr id="46" name="Oval 45"/>
          <p:cNvSpPr/>
          <p:nvPr/>
        </p:nvSpPr>
        <p:spPr>
          <a:xfrm>
            <a:off x="7973568" y="3730752"/>
            <a:ext cx="365760" cy="365760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3749039"/>
            <a:ext cx="365760" cy="292608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3726180"/>
            <a:ext cx="2926080" cy="36576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EFF7FF"/>
                </a:solidFill>
                <a:latin typeface="Aptos"/>
              </a:defRPr>
            </a:pPr>
            <a:r>
              <a:t>Are any events awaiting review?</a:t>
            </a:r>
          </a:p>
        </p:txBody>
      </p:sp>
      <p:sp>
        <p:nvSpPr>
          <p:cNvPr id="49" name="Oval 48"/>
          <p:cNvSpPr/>
          <p:nvPr/>
        </p:nvSpPr>
        <p:spPr>
          <a:xfrm>
            <a:off x="7973568" y="4498848"/>
            <a:ext cx="365760" cy="365760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4517136"/>
            <a:ext cx="365760" cy="292608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030B1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4494276"/>
            <a:ext cx="2926080" cy="36576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50" b="0" i="0">
                <a:solidFill>
                  <a:srgbClr val="EFF7FF"/>
                </a:solidFill>
                <a:latin typeface="Aptos"/>
              </a:defRPr>
            </a:pPr>
            <a:r>
              <a:t>Where can I inspect evidence?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468112"/>
            <a:ext cx="3456432" cy="493776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010" b="1" i="0">
                <a:solidFill>
                  <a:srgbClr val="FFB957"/>
                </a:solidFill>
                <a:latin typeface="Aptos"/>
              </a:defRPr>
            </a:pPr>
            <a:r>
              <a:t>Avoid presenting an unvalidated risk percentage as the probability that a candidate cheated.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Dashboard walkthrough 2 — Event log and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A17EFF"/>
                </a:solidFill>
                <a:latin typeface="Aptos"/>
              </a:defRPr>
            </a:pPr>
            <a:r>
              <a:t>A useful event row explains what was observed, where it came from, and what to inspect next.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700784"/>
            <a:ext cx="6702552" cy="4251960"/>
          </a:xfrm>
          <a:prstGeom prst="roundRect">
            <a:avLst/>
          </a:prstGeom>
          <a:solidFill>
            <a:srgbClr val="051125"/>
          </a:solidFill>
          <a:ln w="1143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1892807"/>
            <a:ext cx="6336792" cy="420624"/>
          </a:xfrm>
          <a:prstGeom prst="roundRect">
            <a:avLst/>
          </a:prstGeom>
          <a:solidFill>
            <a:srgbClr val="0C2345"/>
          </a:solidFill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93392"/>
            <a:ext cx="685800" cy="18288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1" i="0">
                <a:solidFill>
                  <a:srgbClr val="4DDB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1993392"/>
            <a:ext cx="2331720" cy="18288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1" i="0">
                <a:solidFill>
                  <a:srgbClr val="4DDBFF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1993392"/>
            <a:ext cx="2194560" cy="18288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80" b="1" i="0">
                <a:solidFill>
                  <a:srgbClr val="4DDBFF"/>
                </a:solidFill>
                <a:latin typeface="Aptos"/>
              </a:defRPr>
            </a:pPr>
            <a:r>
              <a:t>SOURCE /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2450592"/>
            <a:ext cx="6291072" cy="557784"/>
          </a:xfrm>
          <a:prstGeom prst="roundRect">
            <a:avLst/>
          </a:prstGeom>
          <a:solidFill>
            <a:srgbClr val="08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2651760"/>
            <a:ext cx="109728" cy="109728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2587752"/>
            <a:ext cx="566928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EFF7FF"/>
                </a:solidFill>
                <a:latin typeface="Aptos"/>
              </a:defRPr>
            </a:pPr>
            <a:r>
              <a:t>00:11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42032"/>
            <a:ext cx="2304288" cy="3383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Phone-like object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2542032"/>
            <a:ext cx="256032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19" b="0" i="0">
                <a:solidFill>
                  <a:srgbClr val="A6C0E0"/>
                </a:solidFill>
                <a:latin typeface="Aptos"/>
              </a:defRPr>
            </a:pPr>
            <a:r>
              <a:t>Webcam • partly blocked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3337560"/>
            <a:ext cx="109728" cy="109728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273552"/>
            <a:ext cx="566928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EFF7FF"/>
                </a:solidFill>
                <a:latin typeface="Aptos"/>
              </a:defRPr>
            </a:pPr>
            <a:r>
              <a:t>00:18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227832"/>
            <a:ext cx="2304288" cy="3383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Possible extra 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227832"/>
            <a:ext cx="256032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19" b="0" i="0">
                <a:solidFill>
                  <a:srgbClr val="A6C0E0"/>
                </a:solidFill>
                <a:latin typeface="Aptos"/>
              </a:defRPr>
            </a:pPr>
            <a:r>
              <a:t>Audio • noisy segment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" y="3822191"/>
            <a:ext cx="6291072" cy="557784"/>
          </a:xfrm>
          <a:prstGeom prst="roundRect">
            <a:avLst/>
          </a:prstGeom>
          <a:solidFill>
            <a:srgbClr val="08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4023359"/>
            <a:ext cx="109728" cy="109728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959352"/>
            <a:ext cx="566928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EFF7FF"/>
                </a:solidFill>
                <a:latin typeface="Aptos"/>
              </a:defRPr>
            </a:pPr>
            <a:r>
              <a:t>00:26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913631"/>
            <a:ext cx="2304288" cy="3383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Video quality 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1104" y="3913631"/>
            <a:ext cx="256032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19" b="0" i="0">
                <a:solidFill>
                  <a:srgbClr val="A6C0E0"/>
                </a:solidFill>
                <a:latin typeface="Aptos"/>
              </a:defRPr>
            </a:pPr>
            <a:r>
              <a:t>Video • low light</a:t>
            </a:r>
          </a:p>
        </p:txBody>
      </p:sp>
      <p:sp>
        <p:nvSpPr>
          <p:cNvPr id="32" name="Oval 31"/>
          <p:cNvSpPr/>
          <p:nvPr/>
        </p:nvSpPr>
        <p:spPr>
          <a:xfrm>
            <a:off x="896112" y="4709159"/>
            <a:ext cx="109728" cy="109728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4645152"/>
            <a:ext cx="566928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EFF7FF"/>
                </a:solidFill>
                <a:latin typeface="Aptos"/>
              </a:defRPr>
            </a:pPr>
            <a:r>
              <a:t>00:35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599431"/>
            <a:ext cx="2304288" cy="33832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60" b="1" i="0">
                <a:solidFill>
                  <a:srgbClr val="EFF7FF"/>
                </a:solidFill>
                <a:latin typeface="Aptos"/>
              </a:defRPr>
            </a:pPr>
            <a:r>
              <a:t>Reviewer note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4599431"/>
            <a:ext cx="2560320" cy="34747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19" b="0" i="0">
                <a:solidFill>
                  <a:srgbClr val="A6C0E0"/>
                </a:solidFill>
                <a:latin typeface="Aptos"/>
              </a:defRPr>
            </a:pPr>
            <a:r>
              <a:t>Human input • verified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71231" y="1700784"/>
            <a:ext cx="3977639" cy="2267712"/>
          </a:xfrm>
          <a:prstGeom prst="roundRect">
            <a:avLst/>
          </a:prstGeom>
          <a:solidFill>
            <a:srgbClr val="051125"/>
          </a:solidFill>
          <a:ln w="1143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8" y="1874519"/>
            <a:ext cx="3474720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50" b="1" i="0">
                <a:solidFill>
                  <a:srgbClr val="4DDBFF"/>
                </a:solidFill>
                <a:latin typeface="Aptos"/>
              </a:defRPr>
            </a:pPr>
            <a:r>
              <a:t>SELECTED EVIDENCE  •  MOCKUP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212848"/>
            <a:ext cx="1207008" cy="1161288"/>
          </a:xfrm>
          <a:prstGeom prst="roundRect">
            <a:avLst/>
          </a:prstGeom>
          <a:solidFill>
            <a:srgbClr val="0D294E"/>
          </a:solidFill>
          <a:ln w="1270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0456" y="2395728"/>
            <a:ext cx="310896" cy="310896"/>
          </a:xfrm>
          <a:prstGeom prst="ellipse">
            <a:avLst/>
          </a:prstGeom>
          <a:solidFill>
            <a:srgbClr val="26507E"/>
          </a:solidFill>
          <a:ln w="127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28431" y="2734056"/>
            <a:ext cx="777240" cy="384048"/>
          </a:xfrm>
          <a:prstGeom prst="roundRect">
            <a:avLst/>
          </a:prstGeom>
          <a:solidFill>
            <a:srgbClr val="153D69"/>
          </a:solidFill>
          <a:ln w="1270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11896" y="2907792"/>
            <a:ext cx="384048" cy="228600"/>
          </a:xfrm>
          <a:prstGeom prst="roundRect">
            <a:avLst/>
          </a:prstGeom>
          <a:solidFill>
            <a:srgbClr val="183457"/>
          </a:solidFill>
          <a:ln w="1270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2288" y="2331720"/>
            <a:ext cx="2057400" cy="237744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40" b="1" i="0">
                <a:solidFill>
                  <a:srgbClr val="EFF7FF"/>
                </a:solidFill>
                <a:latin typeface="Aptos"/>
              </a:defRPr>
            </a:pPr>
            <a:r>
              <a:t>00:11 • relevant clip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62288" y="2660904"/>
            <a:ext cx="2011680" cy="47548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40" b="0" i="0">
                <a:solidFill>
                  <a:srgbClr val="A6C0E0"/>
                </a:solidFill>
                <a:latin typeface="Aptos"/>
              </a:defRPr>
            </a:pPr>
            <a:r>
              <a:t>Before / after context helps explain the alert.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71231" y="4160520"/>
            <a:ext cx="3977639" cy="1792224"/>
          </a:xfrm>
          <a:prstGeom prst="roundRect">
            <a:avLst/>
          </a:prstGeom>
          <a:solidFill>
            <a:srgbClr val="081936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08975" y="4334256"/>
            <a:ext cx="338328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30" b="1" i="0">
                <a:solidFill>
                  <a:srgbClr val="A17EFF"/>
                </a:solidFill>
                <a:latin typeface="Aptos"/>
              </a:defRPr>
            </a:pPr>
            <a:r>
              <a:t>REVIEW CONTEXT</a:t>
            </a:r>
          </a:p>
        </p:txBody>
      </p:sp>
      <p:sp>
        <p:nvSpPr>
          <p:cNvPr id="46" name="Oval 45"/>
          <p:cNvSpPr/>
          <p:nvPr/>
        </p:nvSpPr>
        <p:spPr>
          <a:xfrm>
            <a:off x="7808975" y="4754880"/>
            <a:ext cx="91440" cy="91440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0144" y="4645152"/>
            <a:ext cx="3200400" cy="3657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919" b="0" i="0">
                <a:solidFill>
                  <a:srgbClr val="EFF7FF"/>
                </a:solidFill>
                <a:latin typeface="Aptos"/>
              </a:defRPr>
            </a:pPr>
            <a:r>
              <a:t>Observation is not a misconduct finding.</a:t>
            </a:r>
          </a:p>
        </p:txBody>
      </p:sp>
      <p:sp>
        <p:nvSpPr>
          <p:cNvPr id="48" name="Oval 47"/>
          <p:cNvSpPr/>
          <p:nvPr/>
        </p:nvSpPr>
        <p:spPr>
          <a:xfrm>
            <a:off x="7808975" y="5148072"/>
            <a:ext cx="91440" cy="9144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10144" y="5038344"/>
            <a:ext cx="3200400" cy="3657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919" b="0" i="0">
                <a:solidFill>
                  <a:srgbClr val="EFF7FF"/>
                </a:solidFill>
                <a:latin typeface="Aptos"/>
              </a:defRPr>
            </a:pPr>
            <a:r>
              <a:t>Show confidence and input-quality limits.</a:t>
            </a:r>
          </a:p>
        </p:txBody>
      </p:sp>
      <p:sp>
        <p:nvSpPr>
          <p:cNvPr id="50" name="Oval 49"/>
          <p:cNvSpPr/>
          <p:nvPr/>
        </p:nvSpPr>
        <p:spPr>
          <a:xfrm>
            <a:off x="7808975" y="5541264"/>
            <a:ext cx="91440" cy="91440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10144" y="5431536"/>
            <a:ext cx="3200400" cy="3657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919" b="0" i="0">
                <a:solidFill>
                  <a:srgbClr val="EFF7FF"/>
                </a:solidFill>
                <a:latin typeface="Aptos"/>
              </a:defRPr>
            </a:pPr>
            <a:r>
              <a:t>Link to the source clip and policy.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6135624"/>
            <a:ext cx="1069848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10" b="1" i="0">
                <a:solidFill>
                  <a:srgbClr val="FFB957"/>
                </a:solidFill>
                <a:latin typeface="Aptos"/>
              </a:defRPr>
            </a:pPr>
            <a:r>
              <a:t>Example rows are fictional. Model confidence must be calibrated and explained before operational 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Reviewer workspace — inspect, decide,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48E1B3"/>
                </a:solidFill>
                <a:latin typeface="Aptos"/>
              </a:defRPr>
            </a:pPr>
            <a:r>
              <a:t>The mockup keeps the evidence, event context, and reviewer action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627632"/>
            <a:ext cx="11137392" cy="4462272"/>
          </a:xfrm>
          <a:prstGeom prst="roundRect">
            <a:avLst/>
          </a:prstGeom>
          <a:solidFill>
            <a:srgbClr val="051023"/>
          </a:solidFill>
          <a:ln w="11430">
            <a:solidFill>
              <a:srgbClr val="28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810512"/>
            <a:ext cx="10771632" cy="393192"/>
          </a:xfrm>
          <a:prstGeom prst="roundRect">
            <a:avLst/>
          </a:prstGeom>
          <a:solidFill>
            <a:srgbClr val="0D2446"/>
          </a:solidFill>
          <a:ln w="889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01952"/>
            <a:ext cx="5074920" cy="18288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80" b="1" i="0">
                <a:solidFill>
                  <a:srgbClr val="4DDBFF"/>
                </a:solidFill>
                <a:latin typeface="Aptos"/>
              </a:defRPr>
            </a:pPr>
            <a:r>
              <a:t>REVIEW WORKSPACE  /  FICTIONAL SESSION A-014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883664"/>
            <a:ext cx="1307592" cy="283464"/>
          </a:xfrm>
          <a:prstGeom prst="roundRect">
            <a:avLst/>
          </a:prstGeom>
          <a:solidFill>
            <a:srgbClr val="0A2246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1897380"/>
            <a:ext cx="1161288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860" b="1" i="0">
                <a:solidFill>
                  <a:srgbClr val="FFB957"/>
                </a:solidFill>
                <a:latin typeface="Aptos"/>
              </a:defRPr>
            </a:pPr>
            <a:r>
              <a:t>MOCKUP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395728"/>
            <a:ext cx="3749039" cy="2432304"/>
          </a:xfrm>
          <a:prstGeom prst="roundRect">
            <a:avLst/>
          </a:prstGeom>
          <a:solidFill>
            <a:srgbClr val="081A36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2542032"/>
            <a:ext cx="329184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0" b="1" i="0">
                <a:solidFill>
                  <a:srgbClr val="3185FF"/>
                </a:solidFill>
                <a:latin typeface="Aptos"/>
              </a:defRPr>
            </a:pPr>
            <a:r>
              <a:t>VIDEO / AUDIO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2834640"/>
            <a:ext cx="3246120" cy="1490472"/>
          </a:xfrm>
          <a:prstGeom prst="rect">
            <a:avLst/>
          </a:prstGeom>
          <a:solidFill>
            <a:srgbClr val="0D2648"/>
          </a:solidFill>
          <a:ln w="762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03120" y="3054096"/>
            <a:ext cx="411480" cy="411480"/>
          </a:xfrm>
          <a:prstGeom prst="ellipse">
            <a:avLst/>
          </a:prstGeom>
          <a:solidFill>
            <a:srgbClr val="254B70"/>
          </a:solidFill>
          <a:ln w="1016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46504" y="3465576"/>
            <a:ext cx="1143000" cy="603504"/>
          </a:xfrm>
          <a:prstGeom prst="roundRect">
            <a:avLst/>
          </a:prstGeom>
          <a:solidFill>
            <a:srgbClr val="15375B"/>
          </a:solidFill>
          <a:ln w="1016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63240" y="3803904"/>
            <a:ext cx="502920" cy="256032"/>
          </a:xfrm>
          <a:prstGeom prst="roundRect">
            <a:avLst/>
          </a:prstGeom>
          <a:solidFill>
            <a:srgbClr val="142A49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489704"/>
            <a:ext cx="310896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50" b="0" i="0">
                <a:solidFill>
                  <a:srgbClr val="A6C0E0"/>
                </a:solidFill>
                <a:latin typeface="Aptos"/>
              </a:defRPr>
            </a:pPr>
            <a:r>
              <a:t>00:09 ─────●───── 00:14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45152" y="2395728"/>
            <a:ext cx="2999232" cy="2926080"/>
          </a:xfrm>
          <a:prstGeom prst="roundRect">
            <a:avLst/>
          </a:prstGeom>
          <a:solidFill>
            <a:srgbClr val="081A36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7176" y="2560320"/>
            <a:ext cx="246888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9" b="1" i="0">
                <a:solidFill>
                  <a:srgbClr val="A17EFF"/>
                </a:solidFill>
                <a:latin typeface="Aptos"/>
              </a:defRPr>
            </a:pPr>
            <a:r>
              <a:t>EVENT QUEUE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18888" y="2953512"/>
            <a:ext cx="2606040" cy="548640"/>
          </a:xfrm>
          <a:prstGeom prst="roundRect">
            <a:avLst/>
          </a:prstGeom>
          <a:solidFill>
            <a:srgbClr val="0B1F3E"/>
          </a:solidFill>
          <a:ln w="889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56048" y="3145536"/>
            <a:ext cx="109728" cy="109728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57216" y="3017520"/>
            <a:ext cx="196596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19" b="1" i="0">
                <a:solidFill>
                  <a:srgbClr val="EFF7FF"/>
                </a:solidFill>
                <a:latin typeface="Aptos"/>
              </a:defRPr>
            </a:pPr>
            <a:r>
              <a:t>Phone-like object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3246120"/>
            <a:ext cx="914400" cy="1645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60" b="0" i="0">
                <a:solidFill>
                  <a:srgbClr val="A6C0E0"/>
                </a:solidFill>
                <a:latin typeface="Aptos"/>
              </a:defRPr>
            </a:pPr>
            <a:r>
              <a:t>00:11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18888" y="3648456"/>
            <a:ext cx="2606040" cy="548640"/>
          </a:xfrm>
          <a:prstGeom prst="roundRect">
            <a:avLst/>
          </a:prstGeom>
          <a:solidFill>
            <a:srgbClr val="0B1F3E"/>
          </a:solidFill>
          <a:ln w="889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56048" y="3840480"/>
            <a:ext cx="109728" cy="109728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7216" y="3712464"/>
            <a:ext cx="196596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19" b="1" i="0">
                <a:solidFill>
                  <a:srgbClr val="EFF7FF"/>
                </a:solidFill>
                <a:latin typeface="Aptos"/>
              </a:defRPr>
            </a:pPr>
            <a:r>
              <a:t>Possible extra 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3941064"/>
            <a:ext cx="914400" cy="1645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60" b="0" i="0">
                <a:solidFill>
                  <a:srgbClr val="A6C0E0"/>
                </a:solidFill>
                <a:latin typeface="Aptos"/>
              </a:defRPr>
            </a:pPr>
            <a:r>
              <a:t>00:18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18888" y="4343400"/>
            <a:ext cx="2606040" cy="548640"/>
          </a:xfrm>
          <a:prstGeom prst="roundRect">
            <a:avLst/>
          </a:prstGeom>
          <a:solidFill>
            <a:srgbClr val="0B1F3E"/>
          </a:solidFill>
          <a:ln w="889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56048" y="4535424"/>
            <a:ext cx="109728" cy="109728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7216" y="4407408"/>
            <a:ext cx="1965960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19" b="1" i="0">
                <a:solidFill>
                  <a:srgbClr val="EFF7FF"/>
                </a:solidFill>
                <a:latin typeface="Aptos"/>
              </a:defRPr>
            </a:pPr>
            <a:r>
              <a:t>Low video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4636008"/>
            <a:ext cx="914400" cy="1645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860" b="0" i="0">
                <a:solidFill>
                  <a:srgbClr val="A6C0E0"/>
                </a:solidFill>
                <a:latin typeface="Aptos"/>
              </a:defRPr>
            </a:pPr>
            <a:r>
              <a:t>00:26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27264" y="2395728"/>
            <a:ext cx="3621024" cy="2926080"/>
          </a:xfrm>
          <a:prstGeom prst="roundRect">
            <a:avLst/>
          </a:prstGeom>
          <a:solidFill>
            <a:srgbClr val="081A36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8431" y="2560320"/>
            <a:ext cx="3127248" cy="2103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69" b="1" i="0">
                <a:solidFill>
                  <a:srgbClr val="48E1B3"/>
                </a:solidFill>
                <a:latin typeface="Aptos"/>
              </a:defRPr>
            </a:pPr>
            <a:r>
              <a:t>CONTEXT &amp;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2907792"/>
            <a:ext cx="3017520" cy="91440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80" b="0" i="0">
                <a:solidFill>
                  <a:srgbClr val="EFF7FF"/>
                </a:solidFill>
                <a:latin typeface="Aptos"/>
              </a:defRPr>
            </a:pPr>
            <a:r>
              <a:t>Selected event: phone-like object</a:t>
            </a:r>
          </a:p>
          <a:p>
            <a:pPr algn="l">
              <a:spcAft>
                <a:spcPts val="500"/>
              </a:spcAft>
              <a:defRPr sz="980" b="0" i="0">
                <a:solidFill>
                  <a:srgbClr val="EFF7FF"/>
                </a:solidFill>
                <a:latin typeface="Aptos"/>
              </a:defRPr>
            </a:pPr>
            <a:r>
              <a:t>Source: webcam clip • 00:11</a:t>
            </a:r>
          </a:p>
          <a:p>
            <a:pPr algn="l">
              <a:spcAft>
                <a:spcPts val="500"/>
              </a:spcAft>
              <a:defRPr sz="980" b="0" i="0">
                <a:solidFill>
                  <a:srgbClr val="EFF7FF"/>
                </a:solidFill>
                <a:latin typeface="Aptos"/>
              </a:defRPr>
            </a:pPr>
            <a:r>
              <a:t>Quality: partly occluded</a:t>
            </a:r>
          </a:p>
          <a:p>
            <a:pPr algn="l">
              <a:spcAft>
                <a:spcPts val="500"/>
              </a:spcAft>
              <a:defRPr sz="980" b="0" i="0">
                <a:solidFill>
                  <a:srgbClr val="EFF7FF"/>
                </a:solidFill>
                <a:latin typeface="Aptos"/>
              </a:defRPr>
            </a:pPr>
            <a:r>
              <a:t>Model output: requires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5008" y="3959352"/>
            <a:ext cx="3017520" cy="347472"/>
          </a:xfrm>
          <a:prstGeom prst="roundRect">
            <a:avLst/>
          </a:prstGeom>
          <a:solidFill>
            <a:srgbClr val="0C2445"/>
          </a:solidFill>
          <a:ln w="1016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1312" y="4009644"/>
            <a:ext cx="2715768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48E1B3"/>
                </a:solidFill>
                <a:latin typeface="Aptos"/>
              </a:defRPr>
            </a:pPr>
            <a:r>
              <a:t>Dismiss / no issue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5008" y="4407408"/>
            <a:ext cx="3017520" cy="347472"/>
          </a:xfrm>
          <a:prstGeom prst="roundRect">
            <a:avLst/>
          </a:prstGeom>
          <a:solidFill>
            <a:srgbClr val="0C2445"/>
          </a:solidFill>
          <a:ln w="1016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4457700"/>
            <a:ext cx="2715768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FFB957"/>
                </a:solidFill>
                <a:latin typeface="Aptos"/>
              </a:defRPr>
            </a:pPr>
            <a:r>
              <a:t>Need more context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65008" y="4855464"/>
            <a:ext cx="3017520" cy="347472"/>
          </a:xfrm>
          <a:prstGeom prst="roundRect">
            <a:avLst/>
          </a:prstGeom>
          <a:solidFill>
            <a:srgbClr val="0C2445"/>
          </a:solidFill>
          <a:ln w="10160">
            <a:solidFill>
              <a:srgbClr val="FF6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905756"/>
            <a:ext cx="2715768" cy="22860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900" b="1" i="0">
                <a:solidFill>
                  <a:srgbClr val="FF6DA0"/>
                </a:solidFill>
                <a:latin typeface="Aptos"/>
              </a:defRPr>
            </a:pPr>
            <a:r>
              <a:t>Escalate under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5422392"/>
            <a:ext cx="310896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80" b="1" i="0">
                <a:solidFill>
                  <a:srgbClr val="4DDBFF"/>
                </a:solidFill>
                <a:latin typeface="Aptos"/>
              </a:defRPr>
            </a:pPr>
            <a:r>
              <a:t>Reviewer notes and audit trail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5422392"/>
            <a:ext cx="4251960" cy="20116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940" b="0" i="0">
                <a:solidFill>
                  <a:srgbClr val="A6C0E0"/>
                </a:solidFill>
                <a:latin typeface="Aptos"/>
              </a:defRPr>
            </a:pPr>
            <a:r>
              <a:t>Record rationale • reviewer • timestamp • follow-up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" y="6245352"/>
            <a:ext cx="10698480" cy="1645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48E1B3"/>
                </a:solidFill>
                <a:latin typeface="Aptos"/>
              </a:defRPr>
            </a:pPr>
            <a:r>
              <a:t>A real deployment would require access controls, retention rules, and an appeal process.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From a flagged event to a documented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FB957"/>
                </a:solidFill>
                <a:latin typeface="Aptos"/>
              </a:defRPr>
            </a:pPr>
            <a:r>
              <a:t>A detection opens a question. It does not answer the question by itself.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993392"/>
            <a:ext cx="1993392" cy="1883664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31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2157984"/>
            <a:ext cx="384048" cy="384048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176272"/>
            <a:ext cx="384048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30B1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176272"/>
            <a:ext cx="1243584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1" i="0">
                <a:solidFill>
                  <a:srgbClr val="EFF7FF"/>
                </a:solidFill>
                <a:latin typeface="Aptos"/>
              </a:defRPr>
            </a:pPr>
            <a:r>
              <a:t>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52344"/>
            <a:ext cx="1664208" cy="6217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Model records</a:t>
            </a:r>
          </a:p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observation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74036" y="2935224"/>
            <a:ext cx="283464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71216" y="1993392"/>
            <a:ext cx="1993392" cy="1883664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08376" y="2157984"/>
            <a:ext cx="384048" cy="384048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8376" y="2176272"/>
            <a:ext cx="384048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30B1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176272"/>
            <a:ext cx="1243584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1" i="0">
                <a:solidFill>
                  <a:srgbClr val="EFF7FF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752344"/>
            <a:ext cx="1664208" cy="6217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Review clip and</a:t>
            </a:r>
          </a:p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input quality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78324" y="2935224"/>
            <a:ext cx="283464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75504" y="1993392"/>
            <a:ext cx="1993392" cy="1883664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A1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12664" y="2157984"/>
            <a:ext cx="384048" cy="384048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12664" y="2176272"/>
            <a:ext cx="384048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30B1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7296" y="2176272"/>
            <a:ext cx="1243584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1" i="0">
                <a:solidFill>
                  <a:srgbClr val="EFF7FF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2752344"/>
            <a:ext cx="1664208" cy="6217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Check exam rules</a:t>
            </a:r>
          </a:p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and permitted materials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82612" y="2935224"/>
            <a:ext cx="283463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79792" y="1993392"/>
            <a:ext cx="1993392" cy="1883664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FFB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16952" y="2157984"/>
            <a:ext cx="384048" cy="384048"/>
          </a:xfrm>
          <a:prstGeom prst="ellipse">
            <a:avLst/>
          </a:prstGeom>
          <a:solidFill>
            <a:srgbClr val="FFB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6952" y="2176272"/>
            <a:ext cx="384048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30B1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3" y="2176272"/>
            <a:ext cx="1243584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1" i="0">
                <a:solidFill>
                  <a:srgbClr val="EFF7FF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4383" y="2752344"/>
            <a:ext cx="1664208" cy="6217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Authorised person</a:t>
            </a:r>
          </a:p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records rationale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86900" y="2935224"/>
            <a:ext cx="283463" cy="0"/>
          </a:xfrm>
          <a:prstGeom prst="line">
            <a:avLst/>
          </a:prstGeom>
          <a:ln w="19050">
            <a:solidFill>
              <a:srgbClr val="4D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784080" y="1993392"/>
            <a:ext cx="1993392" cy="1883664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48E1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21240" y="2157984"/>
            <a:ext cx="384048" cy="384048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2176272"/>
            <a:ext cx="384048" cy="274320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30B1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05872" y="2176272"/>
            <a:ext cx="1243584" cy="274320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20" b="1" i="0">
                <a:solidFill>
                  <a:srgbClr val="EFF7FF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2" y="2752344"/>
            <a:ext cx="1664208" cy="62179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Outcome + timestamp</a:t>
            </a:r>
          </a:p>
          <a:p>
            <a:pPr algn="l">
              <a:spcAft>
                <a:spcPts val="500"/>
              </a:spcAft>
              <a:defRPr sz="1050" b="0" i="0">
                <a:solidFill>
                  <a:srgbClr val="A6C0E0"/>
                </a:solidFill>
                <a:latin typeface="Aptos"/>
              </a:defRPr>
            </a:pPr>
            <a:r>
              <a:t>+ follow-up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389120"/>
            <a:ext cx="10698480" cy="1161288"/>
          </a:xfrm>
          <a:prstGeom prst="roundRect">
            <a:avLst/>
          </a:prstGeom>
          <a:solidFill>
            <a:srgbClr val="07162E"/>
          </a:solidFill>
          <a:ln w="1143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572000"/>
            <a:ext cx="4114800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70" b="1" i="0">
                <a:solidFill>
                  <a:srgbClr val="FFB957"/>
                </a:solidFill>
                <a:latin typeface="Aptos"/>
              </a:defRPr>
            </a:pPr>
            <a:r>
              <a:t>EXAMPLE — PHONE-LIKE OBJECT AT 00:11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919472"/>
            <a:ext cx="10012680" cy="438912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EFF7FF"/>
                </a:solidFill>
                <a:latin typeface="Aptos"/>
              </a:defRPr>
            </a:pPr>
            <a:r>
              <a:t>The reviewer checks the clip, visibility, allowed-materials policy, and any explanation before dismissing, requesting context, or escalating.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70448"/>
            <a:ext cx="10424160" cy="21945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040" b="0" i="0">
                <a:solidFill>
                  <a:srgbClr val="A6C0E0"/>
                </a:solidFill>
                <a:latin typeface="Aptos"/>
              </a:defRPr>
            </a:pPr>
            <a:r>
              <a:t>This is a proposed review process; final actions depend on institutional policy and due process.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6304" y="118872"/>
            <a:ext cx="11896344" cy="6620256"/>
          </a:xfrm>
          <a:prstGeom prst="rect">
            <a:avLst/>
          </a:prstGeom>
          <a:noFill/>
          <a:ln w="10160">
            <a:solidFill>
              <a:srgbClr val="225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0816" y="493776"/>
            <a:ext cx="68580" cy="6858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40080"/>
            <a:ext cx="45720" cy="4572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08208" y="713232"/>
            <a:ext cx="32004" cy="32004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11712" y="219456"/>
            <a:ext cx="329184" cy="21945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500"/>
              </a:spcAft>
              <a:defRPr sz="1000" b="1" i="0">
                <a:solidFill>
                  <a:srgbClr val="4DDB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6437376"/>
            <a:ext cx="3383280" cy="155448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720" b="1" i="0">
                <a:solidFill>
                  <a:srgbClr val="A6C0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475488"/>
            <a:ext cx="10652760" cy="43891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2400" b="1" i="0">
                <a:solidFill>
                  <a:srgbClr val="EFF7FF"/>
                </a:solidFill>
                <a:latin typeface="Aptos"/>
              </a:defRPr>
            </a:pPr>
            <a:r>
              <a:t>Proposed differentiation — connect signals to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987552"/>
            <a:ext cx="10789920" cy="347472"/>
          </a:xfrm>
          <a:prstGeom prst="rect">
            <a:avLst/>
          </a:prstGeom>
          <a:noFill/>
        </p:spPr>
        <p:txBody>
          <a:bodyPr wrap="square" lIns="18288" rIns="18288" tIns="12801" bIns="9144" anchor="t">
            <a:spAutoFit/>
          </a:bodyPr>
          <a:lstStyle/>
          <a:p>
            <a:pPr algn="l">
              <a:spcAft>
                <a:spcPts val="500"/>
              </a:spcAft>
              <a:defRPr sz="1400" b="1" i="0">
                <a:solidFill>
                  <a:srgbClr val="FF6DA0"/>
                </a:solidFill>
                <a:latin typeface="Aptos"/>
              </a:defRPr>
            </a:pPr>
            <a:r>
              <a:t>The hypothesis is that Assesa's value comes from the workflow around the models, not from one detector.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92224"/>
            <a:ext cx="5138928" cy="3611880"/>
          </a:xfrm>
          <a:prstGeom prst="roundRect">
            <a:avLst/>
          </a:prstGeom>
          <a:solidFill>
            <a:srgbClr val="081834"/>
          </a:solidFill>
          <a:ln w="11430">
            <a:solidFill>
              <a:srgbClr val="4A5D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002536"/>
            <a:ext cx="4617720" cy="26517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10" b="1" i="0">
                <a:solidFill>
                  <a:srgbClr val="A6C0E0"/>
                </a:solidFill>
                <a:latin typeface="Aptos"/>
              </a:defRPr>
            </a:pPr>
            <a:r>
              <a:t>A POSSIBLY FRAGMENTED PROCESS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" y="2615184"/>
            <a:ext cx="91440" cy="91440"/>
          </a:xfrm>
          <a:prstGeom prst="ellipse">
            <a:avLst/>
          </a:prstGeom>
          <a:solidFill>
            <a:srgbClr val="618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505456"/>
            <a:ext cx="432511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Video, audio, screen logs, and notes may be separate.</a:t>
            </a:r>
          </a:p>
        </p:txBody>
      </p:sp>
      <p:sp>
        <p:nvSpPr>
          <p:cNvPr id="17" name="Oval 16"/>
          <p:cNvSpPr/>
          <p:nvPr/>
        </p:nvSpPr>
        <p:spPr>
          <a:xfrm>
            <a:off x="941832" y="3236976"/>
            <a:ext cx="91440" cy="91440"/>
          </a:xfrm>
          <a:prstGeom prst="ellipse">
            <a:avLst/>
          </a:prstGeom>
          <a:solidFill>
            <a:srgbClr val="618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127248"/>
            <a:ext cx="432511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Reviewer searches for the relevant moment manually.</a:t>
            </a:r>
          </a:p>
        </p:txBody>
      </p:sp>
      <p:sp>
        <p:nvSpPr>
          <p:cNvPr id="19" name="Oval 18"/>
          <p:cNvSpPr/>
          <p:nvPr/>
        </p:nvSpPr>
        <p:spPr>
          <a:xfrm>
            <a:off x="941832" y="3858768"/>
            <a:ext cx="91440" cy="91440"/>
          </a:xfrm>
          <a:prstGeom prst="ellipse">
            <a:avLst/>
          </a:prstGeom>
          <a:solidFill>
            <a:srgbClr val="618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749040"/>
            <a:ext cx="432511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Context and technical quality may be documented inconsistently.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4480560"/>
            <a:ext cx="91440" cy="91440"/>
          </a:xfrm>
          <a:prstGeom prst="ellipse">
            <a:avLst/>
          </a:prstGeom>
          <a:solidFill>
            <a:srgbClr val="618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370832"/>
            <a:ext cx="432511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Operational trends may need manual aggregation.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792224"/>
            <a:ext cx="5367528" cy="3611880"/>
          </a:xfrm>
          <a:prstGeom prst="roundRect">
            <a:avLst/>
          </a:prstGeom>
          <a:solidFill>
            <a:srgbClr val="081B39"/>
          </a:solidFill>
          <a:ln w="11430">
            <a:solidFill>
              <a:srgbClr val="4D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002536"/>
            <a:ext cx="4773168" cy="265176"/>
          </a:xfrm>
          <a:prstGeom prst="rect">
            <a:avLst/>
          </a:prstGeom>
          <a:noFill/>
        </p:spPr>
        <p:txBody>
          <a:bodyPr wrap="square" lIns="9144" rIns="9144" tIns="6400" bIns="4572" anchor="t">
            <a:spAutoFit/>
          </a:bodyPr>
          <a:lstStyle/>
          <a:p>
            <a:pPr algn="l">
              <a:spcAft>
                <a:spcPts val="500"/>
              </a:spcAft>
              <a:defRPr sz="1210" b="1" i="0">
                <a:solidFill>
                  <a:srgbClr val="4DDBFF"/>
                </a:solidFill>
                <a:latin typeface="Aptos"/>
              </a:defRPr>
            </a:pPr>
            <a:r>
              <a:t>ASSESA'S PROPOSED WORKFLOW</a:t>
            </a:r>
          </a:p>
        </p:txBody>
      </p:sp>
      <p:sp>
        <p:nvSpPr>
          <p:cNvPr id="25" name="Oval 24"/>
          <p:cNvSpPr/>
          <p:nvPr/>
        </p:nvSpPr>
        <p:spPr>
          <a:xfrm>
            <a:off x="6473952" y="2615184"/>
            <a:ext cx="91440" cy="91440"/>
          </a:xfrm>
          <a:prstGeom prst="ellipse">
            <a:avLst/>
          </a:prstGeom>
          <a:solidFill>
            <a:srgbClr val="4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505456"/>
            <a:ext cx="450799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Join permitted signals into a time-stamped event trail.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3236976"/>
            <a:ext cx="91440" cy="91440"/>
          </a:xfrm>
          <a:prstGeom prst="ellipse">
            <a:avLst/>
          </a:prstGeom>
          <a:solidFill>
            <a:srgbClr val="31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127248"/>
            <a:ext cx="450799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Link each event to its source and relevant clip.</a:t>
            </a:r>
          </a:p>
        </p:txBody>
      </p:sp>
      <p:sp>
        <p:nvSpPr>
          <p:cNvPr id="29" name="Oval 28"/>
          <p:cNvSpPr/>
          <p:nvPr/>
        </p:nvSpPr>
        <p:spPr>
          <a:xfrm>
            <a:off x="6473952" y="3858768"/>
            <a:ext cx="91440" cy="91440"/>
          </a:xfrm>
          <a:prstGeom prst="ellipse">
            <a:avLst/>
          </a:prstGeom>
          <a:solidFill>
            <a:srgbClr val="A1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749040"/>
            <a:ext cx="450799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Keep reviewer notes, rationale, and resolution together.</a:t>
            </a:r>
          </a:p>
        </p:txBody>
      </p:sp>
      <p:sp>
        <p:nvSpPr>
          <p:cNvPr id="31" name="Oval 30"/>
          <p:cNvSpPr/>
          <p:nvPr/>
        </p:nvSpPr>
        <p:spPr>
          <a:xfrm>
            <a:off x="6473952" y="4480560"/>
            <a:ext cx="91440" cy="91440"/>
          </a:xfrm>
          <a:prstGeom prst="ellipse">
            <a:avLst/>
          </a:prstGeom>
          <a:solidFill>
            <a:srgbClr val="48E1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370832"/>
            <a:ext cx="4507992" cy="594360"/>
          </a:xfrm>
          <a:prstGeom prst="rect">
            <a:avLst/>
          </a:prstGeom>
          <a:noFill/>
        </p:spPr>
        <p:txBody>
          <a:bodyPr wrap="square" lIns="45720" rIns="45720" tIns="32003" bIns="22860" anchor="t">
            <a:spAutoFit/>
          </a:bodyPr>
          <a:lstStyle/>
          <a:p>
            <a:pPr algn="l">
              <a:spcAft>
                <a:spcPts val="500"/>
              </a:spcAft>
              <a:defRPr sz="1130" b="0" i="0">
                <a:solidFill>
                  <a:srgbClr val="EFF7FF"/>
                </a:solidFill>
                <a:latin typeface="Aptos"/>
              </a:defRPr>
            </a:pPr>
            <a:r>
              <a:t>Summarise review workload and system-quality patterns.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5641848"/>
            <a:ext cx="10561320" cy="557784"/>
          </a:xfrm>
          <a:prstGeom prst="roundRect">
            <a:avLst/>
          </a:prstGeom>
          <a:solidFill>
            <a:srgbClr val="0A2041"/>
          </a:solidFill>
          <a:ln w="11430">
            <a:solidFill>
              <a:srgbClr val="FF6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797296"/>
            <a:ext cx="10168128" cy="219456"/>
          </a:xfrm>
          <a:prstGeom prst="rect">
            <a:avLst/>
          </a:prstGeom>
          <a:noFill/>
        </p:spPr>
        <p:txBody>
          <a:bodyPr wrap="square" lIns="9144" rIns="9144" tIns="6400" bIns="4572" anchor="ctr">
            <a:spAutoFit/>
          </a:bodyPr>
          <a:lstStyle/>
          <a:p>
            <a:pPr algn="ctr">
              <a:spcAft>
                <a:spcPts val="500"/>
              </a:spcAft>
              <a:defRPr sz="1080" b="1" i="0">
                <a:solidFill>
                  <a:srgbClr val="FF6DA0"/>
                </a:solidFill>
                <a:latin typeface="Aptos"/>
              </a:defRPr>
            </a:pPr>
            <a:r>
              <a:t>These are proposed differentiators to validate with institutions—not proven competitive advantages.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9" name="Picture 28" descr="clean_bg_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Inside the vision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Ask specific questions about the video—not everything about the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Is the candidate visible enough for the session to be reviewed?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459736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386584"/>
            <a:ext cx="5367527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Does another person enter the camera view?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71800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898648"/>
            <a:ext cx="5367527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Is a selected device, such as a mobile phone, visibly present?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483864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10712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Is the video too dark, blurry, blocked, or poorly framed to assess reliably?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142232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069080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These are targeted detections. They are not full scene understanding and cannot establish why something happened.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Gaze and head pose: useful, but easy to misread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Looking away is not the same as cheating.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model may estimate face landmarks, head direction, or approximate gaze direction from video.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These signals might help locate repeated patterns for review, but they are affected by camera placement, glasses, lighting, disability, and natural thinking behaviour.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34670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gaze estimate should never be treated as a standalone cheating verdict.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78224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005072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Assesa should make uncertainty visible and allow reviewers to ignore unreliable estimates.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Audio: speech can carry more than one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Transcription and audio-event analysis are separate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Speech-to-text converts spoken words into a written transcript, where appropriate and permitted.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separate audio module could flag possible additional voices, long interruptions, or other defined events.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Answer relevance or communication quality would be a separate feature with a different purpose and evaluation standard.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Background speech or a transcript alone does not prove that a candidate received help.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Optional screen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Use the least intrusive method that fits the exam.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Webcam-based analysis is the baseline concept; screen monitoring is an optional layer.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Where technically supported, a browser integration could report defined events such as switching tabs or opening restricted pages.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It must be disclosed in advance, consent-based, limited to the assessment, and designed around data minimisation.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Some devices or browsers may not support the same signals, so the system must state its limits.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From raw signals to a 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 reviewer needs context, not a wall of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Example: 10:12—candidate briefly leaves the frame; 10:18—another voice may be audible; 10:24—a phone-like object appears.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Each event should include its timestamp, confidence, and the relevant clip or evidence source.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Events can be grouped so the reviewer can compare what happened before and after.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These are fictional examples to explain the interface—not real detections or measured performance.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reviewer remains responsible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AI organises evidence; a person evaluates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reviewer can open the relevant clip, inspect the timestamp, read the system’s explanation, and add notes.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They can dismiss an event when the evidence is weak or there is a reasonable explanation.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consequential decision should follow the institution’s policy and a fair review process.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Assesa should support appeals and audit trails rather than silently making final disciplinary decisions.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clean_bg_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hard part: students do not all look the same on 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Real-world variation is one of the biggest technical challenges.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Candidates may sit exams in bright rooms, dim rooms, shared spaces, or against cluttered backgrounds.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Webcams differ in resolution, angle, frame rate, and image quality; people may wear glasses or head coverings.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model trained on a narrow set of examples may work well in familiar settings and fail elsewhere.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goal is not to eliminate all variation—it is to measure where the system is unreliable and avoid unfair conclusions.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How we could approach the data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Start with existing models, then test the gaps honestly.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Begin with pretrained computer-vision and audio models instead of training every component from scratch.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Use lawful, representative, permissioned data and carefully designed test cases; do not assume access to real student recordings.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Data augmentation can simulate some variation, such as brightness, blur, and camera framing, but cannot replace real-world evaluation.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78223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005071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Test on unseen environments and report false alarms, missed events, and cases where the model should abstain.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neural network, 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 model learns patterns from examples—it does not understand like a person.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neural network is a set of connected mathematical units that transform input into a prediction.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During training, examples help adjust internal parameters so predictions better match the training targets.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At assessment time, the model might output a label such as ‘person detected’ with a confidence score.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score is not certainty, and performance can change when real conditions differ from training data.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A possible technical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 proposed stack—not a claim that Assesa has been built.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Python could coordinate the pipeline; OpenCV could handle video frames and image processing.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face-landmark tool such as MediaPipe and an object detector from the YOLO family could be evaluated for vision tasks.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Whisper or another speech-recognition model could be tested for transcription, subject to language and privacy requirements.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lightweight web interface could present timelines and reports; each component would need benchmarking before selection.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What institutions could learn from aggregate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Improve exam design without turning students into a surveillance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Session reports could show what events were flagged and how reviewers resolved them.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Aggregated, privacy-protected trends might reveal poor camera instructions, confusing rules, or recurring technical problems.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Institution-level analytics should avoid unnecessary personal profiling and use access controls, retention limits, and minimum group sizes.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78223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005071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 dashboard should show uncertainty and limitations—not just colourful charts.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Privacy, fairness, and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 trustworthy tool must be careful about what it collects and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Explain monitoring clearly, obtain appropriate consent, secure data, restrict access, and set deletion schedules.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False positives and missed detections are inevitable risks; different environments and users may experience different error rates.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Gaze, visible devices, additional voices, or unusual screen activity are not individually proof of misconduct.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Human review, accessibility, appeal pathways, and independent testing are core requirements—not optional extras.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Picture 27" descr="clean_bg_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A realistic development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Build narrowly, evaluate carefully, expand only if evidence supports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67728" y="1627632"/>
            <a:ext cx="4681728" cy="4526280"/>
          </a:xfrm>
          <a:prstGeom prst="roundRect">
            <a:avLst/>
          </a:prstGeom>
          <a:solidFill>
            <a:srgbClr val="0D2244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Phase 1—prototype: demonstrate a small number of targeted detections on permitted sample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06039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532887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Phase 2—controlled evaluation: test different rooms, devices, lighting conditions, and languages; measure errors.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264407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91255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Phase 3—review workflow: build the event timeline, evidence clips, notes, and reporting interface.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922775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849623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Phase 4—limited institutional pilot only after privacy, fairness, security, and operational requirements are reviewed.</a:t>
            </a:r>
          </a:p>
        </p:txBody>
      </p:sp>
      <p:pic>
        <p:nvPicPr>
          <p:cNvPr id="27" name="Picture 26" descr="21_road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1783080"/>
            <a:ext cx="4370832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9" name="Picture 28" descr="clean_bg_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46304" y="118872"/>
            <a:ext cx="11899087" cy="6620256"/>
          </a:xfrm>
          <a:prstGeom prst="rect">
            <a:avLst/>
          </a:prstGeom>
          <a:noFill/>
          <a:ln w="12700">
            <a:solidFill>
              <a:srgbClr val="224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80FF"/>
          </a:solidFill>
          <a:ln>
            <a:solidFill>
              <a:srgbClr val="36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4D5FF"/>
          </a:solidFill>
          <a:ln>
            <a:solidFill>
              <a:srgbClr val="44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64240" y="502920"/>
            <a:ext cx="73152" cy="73152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56848" y="658368"/>
            <a:ext cx="45720" cy="4572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713232"/>
            <a:ext cx="36576" cy="36576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0272" y="228600"/>
            <a:ext cx="411480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4DDBFF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1">
                <a:solidFill>
                  <a:srgbClr val="AEC3E0"/>
                </a:solidFill>
                <a:latin typeface="Aptos"/>
              </a:defRPr>
            </a:pPr>
            <a:r>
              <a:t>ASSESA  /  STUDENT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051560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1F7FF"/>
                </a:solidFill>
                <a:latin typeface="Aptos"/>
              </a:defRPr>
            </a:pPr>
            <a:r>
              <a:t>The vision: high-level exams with wider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02412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44D5FF"/>
                </a:solidFill>
                <a:latin typeface="Aptos"/>
              </a:defRPr>
            </a:pPr>
            <a:r>
              <a:t>A future worth exploring—if fairness and trust scale with participation.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27632"/>
            <a:ext cx="6172200" cy="4526280"/>
          </a:xfrm>
          <a:prstGeom prst="roundRect">
            <a:avLst/>
          </a:prstGeom>
          <a:solidFill>
            <a:srgbClr val="091833"/>
          </a:solidFill>
          <a:ln>
            <a:solidFill>
              <a:srgbClr val="183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1874519"/>
            <a:ext cx="5367527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Imagine an international Olympiad where more students can participate regardless of location, while organisers still have a practical way to review concerns.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761488"/>
            <a:ext cx="91440" cy="91440"/>
          </a:xfrm>
          <a:prstGeom prst="ellipse">
            <a:avLst/>
          </a:prstGeom>
          <a:solidFill>
            <a:srgbClr val="36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2688336"/>
            <a:ext cx="5367527" cy="5577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Assesa is one concept for helping that happen: specialist modules, explainable events, and human-led decisions.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A4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346704"/>
            <a:ext cx="5367527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The next step is not to claim success. It is to prototype, test the difficult cases, and learn where the idea does—and does not—work.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33672"/>
            <a:ext cx="91440" cy="91440"/>
          </a:xfrm>
          <a:prstGeom prst="ellipse">
            <a:avLst/>
          </a:prstGeom>
          <a:solidFill>
            <a:srgbClr val="44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160520"/>
            <a:ext cx="5367527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1F7FF"/>
                </a:solidFill>
                <a:latin typeface="Aptos"/>
              </a:defRPr>
            </a:pPr>
            <a:r>
              <a:t>All people, environments, interface mockups, and sample events shown are illustrative or AI-generated. Any resemblance to real people or situations is purely coincidental.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698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AEC3E0"/>
                </a:solidFill>
                <a:latin typeface="Aptos"/>
              </a:defRPr>
            </a:pPr>
            <a:r>
              <a:t>Concept only • No verified product results or institutional deployment are claimed.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382512"/>
            <a:ext cx="106984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spcAft>
                <a:spcPts val="800"/>
              </a:spcAft>
              <a:defRPr sz="800" b="0">
                <a:solidFill>
                  <a:srgbClr val="AEC3E0"/>
                </a:solidFill>
                <a:latin typeface="Aptos"/>
              </a:defRPr>
            </a:pPr>
            <a:r>
              <a:t>Concept-stage proposal • Illustrations and example events are AI-generated / hypothetical unless stated otherwise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01400" cy="868680"/>
          </a:xfrm>
          <a:prstGeom prst="roundRect">
            <a:avLst/>
          </a:prstGeom>
          <a:solidFill>
            <a:srgbClr val="081934"/>
          </a:solidFill>
          <a:ln>
            <a:solidFill>
              <a:srgbClr val="377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36576"/>
          <a:lstStyle/>
          <a:p>
            <a:pPr algn="ctr">
              <a:defRPr sz="1000">
                <a:solidFill>
                  <a:srgbClr val="CFDFF3"/>
                </a:solidFill>
                <a:latin typeface="Aptos"/>
              </a:defRPr>
            </a:pPr>
            <a:r>
              <a:t>Disclaimer: Assesa is a student concept, not a validated or deployed product. All people, environments, illustrations, interface mockups, maps, and sample events in this presentation are illustrative, AI-generated, or hypothetical unless explicitly stated otherwise. No actual student recordings, verified performance metrics, or institutional deployments are represented. Any resemblance to real people or situations is purely coincidental.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